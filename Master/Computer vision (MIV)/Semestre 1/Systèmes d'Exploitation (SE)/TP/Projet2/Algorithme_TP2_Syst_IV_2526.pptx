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6" r:id="rId4"/>
    <p:sldId id="265" r:id="rId5"/>
    <p:sldId id="269" r:id="rId6"/>
    <p:sldId id="270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24" autoAdjust="0"/>
    <p:restoredTop sz="94660"/>
  </p:normalViewPr>
  <p:slideViewPr>
    <p:cSldViewPr>
      <p:cViewPr>
        <p:scale>
          <a:sx n="96" d="100"/>
          <a:sy n="96" d="100"/>
        </p:scale>
        <p:origin x="-726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67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79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86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12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08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961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07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851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79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395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DDB84-2D9E-4CFC-8949-80206C7720B6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DBC26-F960-4ACE-9EB2-0A472AF12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3086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489013" y="260648"/>
            <a:ext cx="1178954" cy="600523"/>
          </a:xfrm>
          <a:prstGeom prst="ellipse">
            <a:avLst/>
          </a:prstGeom>
          <a:pattFill prst="sphere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Malade Critique</a:t>
            </a:r>
            <a:endParaRPr lang="fr-FR" sz="1400" b="1" dirty="0">
              <a:solidFill>
                <a:schemeClr val="tx1"/>
              </a:solidFill>
            </a:endParaRPr>
          </a:p>
        </p:txBody>
      </p:sp>
      <p:cxnSp>
        <p:nvCxnSpPr>
          <p:cNvPr id="17" name="Connecteur droit avec flèche 16"/>
          <p:cNvCxnSpPr>
            <a:stCxn id="63" idx="2"/>
            <a:endCxn id="45" idx="0"/>
          </p:cNvCxnSpPr>
          <p:nvPr/>
        </p:nvCxnSpPr>
        <p:spPr>
          <a:xfrm>
            <a:off x="1056490" y="2065321"/>
            <a:ext cx="1856398" cy="754624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stCxn id="32" idx="4"/>
            <a:endCxn id="68" idx="0"/>
          </p:cNvCxnSpPr>
          <p:nvPr/>
        </p:nvCxnSpPr>
        <p:spPr>
          <a:xfrm flipH="1">
            <a:off x="4665701" y="936354"/>
            <a:ext cx="138118" cy="642114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 31"/>
          <p:cNvSpPr/>
          <p:nvPr/>
        </p:nvSpPr>
        <p:spPr>
          <a:xfrm>
            <a:off x="4113999" y="281934"/>
            <a:ext cx="1379640" cy="654420"/>
          </a:xfrm>
          <a:prstGeom prst="ellipse">
            <a:avLst/>
          </a:prstGeom>
          <a:pattFill prst="sphere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Malade Non Critique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4" name="Ellipse 33"/>
          <p:cNvSpPr/>
          <p:nvPr/>
        </p:nvSpPr>
        <p:spPr>
          <a:xfrm>
            <a:off x="2224611" y="4678229"/>
            <a:ext cx="1388517" cy="504056"/>
          </a:xfrm>
          <a:prstGeom prst="ellipse">
            <a:avLst/>
          </a:prstGeom>
          <a:pattFill prst="dashVert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Donneur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1775052" y="2819945"/>
            <a:ext cx="2275672" cy="504056"/>
          </a:xfrm>
          <a:prstGeom prst="ellipse">
            <a:avLst/>
          </a:prstGeom>
          <a:pattFill prst="pct2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Chirurgien</a:t>
            </a:r>
            <a:endParaRPr lang="fr-FR" sz="1400" b="1" dirty="0">
              <a:solidFill>
                <a:schemeClr val="tx1"/>
              </a:solidFill>
            </a:endParaRPr>
          </a:p>
        </p:txBody>
      </p:sp>
      <p:cxnSp>
        <p:nvCxnSpPr>
          <p:cNvPr id="47" name="Connecteur droit avec flèche 46"/>
          <p:cNvCxnSpPr>
            <a:stCxn id="34" idx="7"/>
            <a:endCxn id="5" idx="2"/>
          </p:cNvCxnSpPr>
          <p:nvPr/>
        </p:nvCxnSpPr>
        <p:spPr>
          <a:xfrm flipV="1">
            <a:off x="3409784" y="4193187"/>
            <a:ext cx="1291767" cy="558859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e 55"/>
          <p:cNvGrpSpPr/>
          <p:nvPr/>
        </p:nvGrpSpPr>
        <p:grpSpPr>
          <a:xfrm>
            <a:off x="489013" y="1633273"/>
            <a:ext cx="1134953" cy="432048"/>
            <a:chOff x="1196802" y="620688"/>
            <a:chExt cx="1286966" cy="504056"/>
          </a:xfr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</p:grpSpPr>
        <p:sp>
          <p:nvSpPr>
            <p:cNvPr id="63" name="Rectangle 62"/>
            <p:cNvSpPr/>
            <p:nvPr/>
          </p:nvSpPr>
          <p:spPr>
            <a:xfrm>
              <a:off x="1196802" y="620688"/>
              <a:ext cx="1286966" cy="50405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 err="1" smtClean="0">
                  <a:solidFill>
                    <a:schemeClr val="tx1"/>
                  </a:solidFill>
                </a:rPr>
                <a:t>Qcritique</a:t>
              </a:r>
              <a:endParaRPr lang="fr-FR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Connecteur droit 63"/>
            <p:cNvCxnSpPr/>
            <p:nvPr/>
          </p:nvCxnSpPr>
          <p:spPr>
            <a:xfrm>
              <a:off x="1196802" y="620688"/>
              <a:ext cx="638894" cy="126014"/>
            </a:xfrm>
            <a:prstGeom prst="lin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eur droit 64"/>
            <p:cNvCxnSpPr/>
            <p:nvPr/>
          </p:nvCxnSpPr>
          <p:spPr>
            <a:xfrm flipV="1">
              <a:off x="1840285" y="620688"/>
              <a:ext cx="643483" cy="126014"/>
            </a:xfrm>
            <a:prstGeom prst="lin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e 66"/>
          <p:cNvGrpSpPr/>
          <p:nvPr/>
        </p:nvGrpSpPr>
        <p:grpSpPr>
          <a:xfrm>
            <a:off x="4050724" y="1578468"/>
            <a:ext cx="1229954" cy="432048"/>
            <a:chOff x="1196802" y="620688"/>
            <a:chExt cx="1286966" cy="504056"/>
          </a:xfr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</p:grpSpPr>
        <p:sp>
          <p:nvSpPr>
            <p:cNvPr id="68" name="Rectangle 67"/>
            <p:cNvSpPr/>
            <p:nvPr/>
          </p:nvSpPr>
          <p:spPr>
            <a:xfrm>
              <a:off x="1196802" y="620688"/>
              <a:ext cx="1286966" cy="50405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 err="1" smtClean="0">
                  <a:solidFill>
                    <a:schemeClr val="tx1"/>
                  </a:solidFill>
                </a:rPr>
                <a:t>QNcritique</a:t>
              </a:r>
              <a:endParaRPr lang="fr-FR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Connecteur droit 68"/>
            <p:cNvCxnSpPr/>
            <p:nvPr/>
          </p:nvCxnSpPr>
          <p:spPr>
            <a:xfrm>
              <a:off x="1196802" y="620688"/>
              <a:ext cx="638894" cy="126014"/>
            </a:xfrm>
            <a:prstGeom prst="lin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eur droit 69"/>
            <p:cNvCxnSpPr/>
            <p:nvPr/>
          </p:nvCxnSpPr>
          <p:spPr>
            <a:xfrm flipV="1">
              <a:off x="1840285" y="620688"/>
              <a:ext cx="643483" cy="126014"/>
            </a:xfrm>
            <a:prstGeom prst="lin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e 70"/>
          <p:cNvGrpSpPr/>
          <p:nvPr/>
        </p:nvGrpSpPr>
        <p:grpSpPr>
          <a:xfrm>
            <a:off x="1979712" y="1031198"/>
            <a:ext cx="1656184" cy="432048"/>
            <a:chOff x="1196802" y="620688"/>
            <a:chExt cx="1286966" cy="504056"/>
          </a:xfrm>
          <a:pattFill prst="sphere">
            <a:fgClr>
              <a:schemeClr val="bg2">
                <a:lumMod val="75000"/>
              </a:schemeClr>
            </a:fgClr>
            <a:bgClr>
              <a:schemeClr val="bg1"/>
            </a:bgClr>
          </a:pattFill>
        </p:grpSpPr>
        <p:sp>
          <p:nvSpPr>
            <p:cNvPr id="72" name="Rectangle 71"/>
            <p:cNvSpPr/>
            <p:nvPr/>
          </p:nvSpPr>
          <p:spPr>
            <a:xfrm>
              <a:off x="1196802" y="620688"/>
              <a:ext cx="1286966" cy="50405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 err="1" smtClean="0">
                  <a:solidFill>
                    <a:schemeClr val="tx1"/>
                  </a:solidFill>
                </a:rPr>
                <a:t>Qimplantation</a:t>
              </a:r>
              <a:endParaRPr lang="fr-FR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Connecteur droit 72"/>
            <p:cNvCxnSpPr/>
            <p:nvPr/>
          </p:nvCxnSpPr>
          <p:spPr>
            <a:xfrm>
              <a:off x="1196802" y="620688"/>
              <a:ext cx="638894" cy="126014"/>
            </a:xfrm>
            <a:prstGeom prst="line">
              <a:avLst/>
            </a:prstGeom>
            <a:grpFill/>
            <a:ln w="25400"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eur droit 73"/>
            <p:cNvCxnSpPr/>
            <p:nvPr/>
          </p:nvCxnSpPr>
          <p:spPr>
            <a:xfrm flipV="1">
              <a:off x="1840285" y="620688"/>
              <a:ext cx="643483" cy="126014"/>
            </a:xfrm>
            <a:prstGeom prst="line">
              <a:avLst/>
            </a:prstGeom>
            <a:grpFill/>
            <a:ln w="25400"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0" name="Connecteur droit avec flèche 89"/>
          <p:cNvCxnSpPr>
            <a:stCxn id="4" idx="4"/>
            <a:endCxn id="63" idx="0"/>
          </p:cNvCxnSpPr>
          <p:nvPr/>
        </p:nvCxnSpPr>
        <p:spPr>
          <a:xfrm flipH="1">
            <a:off x="1056490" y="861171"/>
            <a:ext cx="22000" cy="772102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/>
          <p:cNvCxnSpPr>
            <a:stCxn id="68" idx="2"/>
            <a:endCxn id="45" idx="0"/>
          </p:cNvCxnSpPr>
          <p:nvPr/>
        </p:nvCxnSpPr>
        <p:spPr>
          <a:xfrm flipH="1">
            <a:off x="2912888" y="2010516"/>
            <a:ext cx="1752813" cy="809429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avec flèche 130"/>
          <p:cNvCxnSpPr>
            <a:stCxn id="5" idx="0"/>
            <a:endCxn id="45" idx="5"/>
          </p:cNvCxnSpPr>
          <p:nvPr/>
        </p:nvCxnSpPr>
        <p:spPr>
          <a:xfrm flipH="1" flipV="1">
            <a:off x="3717460" y="3250184"/>
            <a:ext cx="984091" cy="503196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avec flèche 133"/>
          <p:cNvCxnSpPr>
            <a:stCxn id="72" idx="3"/>
            <a:endCxn id="32" idx="3"/>
          </p:cNvCxnSpPr>
          <p:nvPr/>
        </p:nvCxnSpPr>
        <p:spPr>
          <a:xfrm flipV="1">
            <a:off x="3635896" y="840516"/>
            <a:ext cx="680147" cy="406706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/>
          <p:cNvCxnSpPr>
            <a:stCxn id="72" idx="1"/>
            <a:endCxn id="4" idx="5"/>
          </p:cNvCxnSpPr>
          <p:nvPr/>
        </p:nvCxnSpPr>
        <p:spPr>
          <a:xfrm flipH="1" flipV="1">
            <a:off x="1495313" y="773226"/>
            <a:ext cx="484399" cy="473996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rganigramme : Stockage à accès direct 65"/>
          <p:cNvSpPr/>
          <p:nvPr/>
        </p:nvSpPr>
        <p:spPr>
          <a:xfrm>
            <a:off x="107504" y="3825388"/>
            <a:ext cx="2000812" cy="504056"/>
          </a:xfrm>
          <a:prstGeom prst="flowChartMagneticDrum">
            <a:avLst/>
          </a:prstGeom>
          <a:pattFill prst="dash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Tube</a:t>
            </a:r>
            <a:endParaRPr lang="fr-FR" sz="1400" b="1" dirty="0">
              <a:solidFill>
                <a:schemeClr val="tx1"/>
              </a:solidFill>
            </a:endParaRPr>
          </a:p>
        </p:txBody>
      </p:sp>
      <p:cxnSp>
        <p:nvCxnSpPr>
          <p:cNvPr id="144" name="Connecteur droit avec flèche 143"/>
          <p:cNvCxnSpPr>
            <a:stCxn id="45" idx="3"/>
            <a:endCxn id="66" idx="0"/>
          </p:cNvCxnSpPr>
          <p:nvPr/>
        </p:nvCxnSpPr>
        <p:spPr>
          <a:xfrm flipH="1">
            <a:off x="1107910" y="3250184"/>
            <a:ext cx="1000406" cy="575204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avec flèche 148"/>
          <p:cNvCxnSpPr>
            <a:stCxn id="66" idx="2"/>
            <a:endCxn id="34" idx="1"/>
          </p:cNvCxnSpPr>
          <p:nvPr/>
        </p:nvCxnSpPr>
        <p:spPr>
          <a:xfrm>
            <a:off x="1107910" y="4329444"/>
            <a:ext cx="1320045" cy="422602"/>
          </a:xfrm>
          <a:prstGeom prst="straightConnector1">
            <a:avLst/>
          </a:prstGeom>
          <a:ln w="254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e 103"/>
          <p:cNvGrpSpPr/>
          <p:nvPr/>
        </p:nvGrpSpPr>
        <p:grpSpPr>
          <a:xfrm>
            <a:off x="3909463" y="3753380"/>
            <a:ext cx="1584176" cy="449687"/>
            <a:chOff x="5565647" y="3753380"/>
            <a:chExt cx="1584176" cy="449687"/>
          </a:xfrm>
          <a:pattFill prst="pct20">
            <a:fgClr>
              <a:schemeClr val="bg1">
                <a:lumMod val="65000"/>
              </a:schemeClr>
            </a:fgClr>
            <a:bgClr>
              <a:schemeClr val="bg1"/>
            </a:bgClr>
          </a:pattFill>
        </p:grpSpPr>
        <p:sp>
          <p:nvSpPr>
            <p:cNvPr id="5" name="Rectangle à coins arrondis 4"/>
            <p:cNvSpPr/>
            <p:nvPr/>
          </p:nvSpPr>
          <p:spPr>
            <a:xfrm>
              <a:off x="5565647" y="3753380"/>
              <a:ext cx="1584176" cy="439807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 err="1" smtClean="0">
                  <a:solidFill>
                    <a:schemeClr val="tx1"/>
                  </a:solidFill>
                </a:rPr>
                <a:t>TOrganes</a:t>
              </a:r>
              <a:endParaRPr lang="fr-FR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60" name="Connecteur droit avec flèche 159"/>
            <p:cNvCxnSpPr/>
            <p:nvPr/>
          </p:nvCxnSpPr>
          <p:spPr>
            <a:xfrm flipV="1">
              <a:off x="5770183" y="3753380"/>
              <a:ext cx="1" cy="428175"/>
            </a:xfrm>
            <a:prstGeom prst="straightConnector1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eur droit avec flèche 161"/>
            <p:cNvCxnSpPr/>
            <p:nvPr/>
          </p:nvCxnSpPr>
          <p:spPr>
            <a:xfrm flipV="1">
              <a:off x="5995999" y="3774892"/>
              <a:ext cx="1" cy="428175"/>
            </a:xfrm>
            <a:prstGeom prst="straightConnector1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eur droit avec flèche 162"/>
            <p:cNvCxnSpPr/>
            <p:nvPr/>
          </p:nvCxnSpPr>
          <p:spPr>
            <a:xfrm flipV="1">
              <a:off x="6732240" y="3765012"/>
              <a:ext cx="1" cy="428175"/>
            </a:xfrm>
            <a:prstGeom prst="straightConnector1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eur droit avec flèche 163"/>
            <p:cNvCxnSpPr/>
            <p:nvPr/>
          </p:nvCxnSpPr>
          <p:spPr>
            <a:xfrm flipV="1">
              <a:off x="6955950" y="3765012"/>
              <a:ext cx="1" cy="428175"/>
            </a:xfrm>
            <a:prstGeom prst="straightConnector1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Rectangle 104"/>
          <p:cNvSpPr/>
          <p:nvPr/>
        </p:nvSpPr>
        <p:spPr>
          <a:xfrm>
            <a:off x="6084168" y="1425740"/>
            <a:ext cx="288032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lvl="0" indent="-182563" algn="just">
              <a:buFont typeface="Times New Roman"/>
              <a:buChar char="-"/>
            </a:pPr>
            <a:r>
              <a:rPr lang="fr-FR" sz="1400" dirty="0">
                <a:latin typeface="Times New Roman"/>
                <a:ea typeface="Times New Roman"/>
              </a:rPr>
              <a:t>Partage de mémoires </a:t>
            </a:r>
          </a:p>
          <a:p>
            <a:pPr marL="182563" lvl="0" indent="-182563" algn="just">
              <a:spcAft>
                <a:spcPts val="0"/>
              </a:spcAft>
              <a:buFont typeface="Times New Roman"/>
              <a:buChar char="-"/>
            </a:pPr>
            <a:r>
              <a:rPr lang="fr-FR" sz="1400" dirty="0">
                <a:latin typeface="Times New Roman"/>
                <a:ea typeface="Times New Roman"/>
              </a:rPr>
              <a:t>Synchronisation par sémaphores</a:t>
            </a:r>
          </a:p>
          <a:p>
            <a:pPr marL="182563" lvl="0" indent="-182563" algn="just">
              <a:spcAft>
                <a:spcPts val="0"/>
              </a:spcAft>
              <a:buFont typeface="Times New Roman"/>
              <a:buChar char="-"/>
            </a:pPr>
            <a:r>
              <a:rPr lang="fr-FR" sz="1400" dirty="0">
                <a:latin typeface="Times New Roman"/>
                <a:ea typeface="Times New Roman"/>
              </a:rPr>
              <a:t>Communication par tubes.</a:t>
            </a:r>
          </a:p>
          <a:p>
            <a:pPr marL="182563" lvl="0" indent="-182563" algn="just">
              <a:spcAft>
                <a:spcPts val="0"/>
              </a:spcAft>
              <a:buFont typeface="Times New Roman"/>
              <a:buChar char="-"/>
            </a:pPr>
            <a:r>
              <a:rPr lang="fr-FR" sz="1400" dirty="0">
                <a:latin typeface="Times New Roman"/>
                <a:ea typeface="Times New Roman"/>
              </a:rPr>
              <a:t>Communication par </a:t>
            </a:r>
            <a:r>
              <a:rPr lang="fr-FR" sz="1400" dirty="0" smtClean="0">
                <a:latin typeface="Times New Roman"/>
                <a:ea typeface="Times New Roman"/>
              </a:rPr>
              <a:t>messages(files </a:t>
            </a:r>
            <a:r>
              <a:rPr lang="fr-FR" sz="1400" dirty="0">
                <a:latin typeface="Times New Roman"/>
                <a:ea typeface="Times New Roman"/>
              </a:rPr>
              <a:t>de messages)</a:t>
            </a:r>
            <a:endParaRPr lang="fr-FR" sz="14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705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2" grpId="0" animBg="1"/>
      <p:bldP spid="34" grpId="0" animBg="1"/>
      <p:bldP spid="4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67544" y="1052736"/>
            <a:ext cx="352839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Créer-et-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initialiser_sémaphores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nv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fr-FR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{….}</a:t>
            </a:r>
            <a:endParaRPr lang="fr-FR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Créer_files_messages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Qcr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Qncr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Qimp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{……}</a:t>
            </a:r>
            <a:endParaRPr lang="fr-FR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Créer_et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attacher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tampon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Torgane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{……..}</a:t>
            </a:r>
          </a:p>
          <a:p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Créer_tube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(tube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){……..}</a:t>
            </a:r>
            <a:endParaRPr lang="fr-FR" sz="1200" dirty="0">
              <a:latin typeface="Times New Roman" pitchFamily="18" charset="0"/>
              <a:cs typeface="Times New Roman" pitchFamily="18" charset="0"/>
            </a:endParaRPr>
          </a:p>
          <a:p>
            <a:endParaRPr lang="fr-FR" sz="12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oid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MaladeCrl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{…..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exit(0);}</a:t>
            </a:r>
          </a:p>
          <a:p>
            <a:pPr lvl="0"/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oid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MaladeNCrt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0"/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{……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exit(0)}</a:t>
            </a:r>
          </a:p>
          <a:p>
            <a:pPr lvl="0"/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oid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Chirurgien()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{……</a:t>
            </a: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exit(0)}</a:t>
            </a:r>
          </a:p>
          <a:p>
            <a:pPr lvl="0"/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oid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Donneur()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{……</a:t>
            </a: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exit(0)}</a:t>
            </a:r>
          </a:p>
          <a:p>
            <a:pPr lvl="0"/>
            <a:endParaRPr lang="fr-FR" sz="12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oid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Detruire_sémaphores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nv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{……}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oid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Detruire_files_messages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Qcr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Qncr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Qimp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){……}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oid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Detruire_tampon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Torgane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{………}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oid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Detruire_tube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(tube);</a:t>
            </a:r>
          </a:p>
          <a:p>
            <a:endParaRPr lang="fr-FR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931505" y="980728"/>
            <a:ext cx="352839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ain()</a:t>
            </a:r>
          </a:p>
          <a:p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Créer-et-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initialiser_sémaphores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nv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);</a:t>
            </a:r>
            <a:endParaRPr lang="fr-FR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Créer_files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messages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Qcr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Qncr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Qimp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Créer_et_attacher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tampon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Torgane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fr-FR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Créer_tube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 (tube);</a:t>
            </a:r>
            <a:endParaRPr lang="fr-FR" sz="1200" dirty="0">
              <a:latin typeface="Times New Roman" pitchFamily="18" charset="0"/>
              <a:cs typeface="Times New Roman" pitchFamily="18" charset="0"/>
            </a:endParaRPr>
          </a:p>
          <a:p>
            <a:endParaRPr lang="fr-FR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d=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fork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f (id==0)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MaladeCr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id=</a:t>
            </a:r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fork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if (id==0) </a:t>
            </a:r>
            <a:r>
              <a:rPr lang="fr-FR" sz="1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MaladeNCr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id=</a:t>
            </a:r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fork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if (id==0) 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Chirurgien();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id=</a:t>
            </a:r>
            <a:r>
              <a:rPr lang="fr-FR" sz="1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fork</a:t>
            </a:r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if (id==0) </a:t>
            </a:r>
            <a:r>
              <a:rPr lang="fr-FR" sz="1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Donneur();</a:t>
            </a:r>
            <a:endParaRPr lang="fr-FR" sz="1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fr-FR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or (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 i, i++, i&lt;=4)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wait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(0);</a:t>
            </a:r>
          </a:p>
          <a:p>
            <a:endParaRPr lang="fr-FR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Detruire_sémaphores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nv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);</a:t>
            </a:r>
            <a:endParaRPr lang="fr-FR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Detruire_files_messages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Qcr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Qncr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Qimp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Detruire</a:t>
            </a:r>
            <a:r>
              <a:rPr lang="fr-FR" sz="1200" dirty="0" err="1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tampon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Torgane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fr-FR" sz="1200" dirty="0" err="1" smtClean="0">
                <a:latin typeface="Times New Roman" pitchFamily="18" charset="0"/>
                <a:cs typeface="Times New Roman" pitchFamily="18" charset="0"/>
              </a:rPr>
              <a:t>Detruire_tube</a:t>
            </a:r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(tube);</a:t>
            </a:r>
          </a:p>
          <a:p>
            <a:endParaRPr lang="fr-FR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12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755576" y="476672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Structure générale du programme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1745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1728192"/>
          </a:xfrm>
        </p:spPr>
        <p:txBody>
          <a:bodyPr>
            <a:normAutofit fontScale="85000" lnSpcReduction="20000"/>
          </a:bodyPr>
          <a:lstStyle/>
          <a:p>
            <a:r>
              <a:rPr lang="fr-FR" sz="1600" b="1" dirty="0" smtClean="0">
                <a:latin typeface="Times New Roman" pitchFamily="18" charset="0"/>
                <a:cs typeface="Times New Roman" pitchFamily="18" charset="0"/>
              </a:rPr>
              <a:t>Structures de données communes</a:t>
            </a:r>
            <a:endParaRPr lang="fr-FR" sz="1600" b="1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fr-FR" sz="1400" dirty="0" smtClean="0">
                <a:latin typeface="Times New Roman" pitchFamily="18" charset="0"/>
                <a:cs typeface="Times New Roman" pitchFamily="18" charset="0"/>
              </a:rPr>
              <a:t>N: taille du tampon</a:t>
            </a:r>
          </a:p>
          <a:p>
            <a:pPr>
              <a:buFontTx/>
              <a:buChar char="-"/>
            </a:pPr>
            <a:r>
              <a:rPr lang="fr-FR" sz="1400" dirty="0" smtClean="0">
                <a:latin typeface="Times New Roman" pitchFamily="18" charset="0"/>
                <a:cs typeface="Times New Roman" pitchFamily="18" charset="0"/>
              </a:rPr>
              <a:t>M1: Nombre de malades critiques représentés.</a:t>
            </a:r>
          </a:p>
          <a:p>
            <a:pPr>
              <a:buFontTx/>
              <a:buChar char="-"/>
            </a:pPr>
            <a:r>
              <a:rPr lang="fr-FR" sz="1400" dirty="0" smtClean="0">
                <a:latin typeface="Times New Roman" pitchFamily="18" charset="0"/>
                <a:cs typeface="Times New Roman" pitchFamily="18" charset="0"/>
              </a:rPr>
              <a:t>M2: Nombre de malades non critiques représentés</a:t>
            </a:r>
          </a:p>
          <a:p>
            <a:pPr>
              <a:buFontTx/>
              <a:buChar char="-"/>
            </a:pPr>
            <a:r>
              <a:rPr lang="fr-FR" sz="1400" dirty="0" smtClean="0">
                <a:latin typeface="Times New Roman" pitchFamily="18" charset="0"/>
                <a:cs typeface="Times New Roman" pitchFamily="18" charset="0"/>
              </a:rPr>
              <a:t>N1: nombre d’organes critiques</a:t>
            </a:r>
          </a:p>
          <a:p>
            <a:pPr>
              <a:buFontTx/>
              <a:buChar char="-"/>
            </a:pPr>
            <a:r>
              <a:rPr lang="fr-FR" sz="1400" dirty="0" smtClean="0">
                <a:latin typeface="Times New Roman" pitchFamily="18" charset="0"/>
                <a:cs typeface="Times New Roman" pitchFamily="18" charset="0"/>
              </a:rPr>
              <a:t>N2: Nombre d’organes non critiques</a:t>
            </a:r>
          </a:p>
          <a:p>
            <a:pPr>
              <a:buFontTx/>
              <a:buChar char="-"/>
            </a:pPr>
            <a:endParaRPr lang="fr-FR" sz="1600" b="1" baseline="-25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1400" dirty="0" smtClean="0"/>
          </a:p>
          <a:p>
            <a:pPr marL="457200" lvl="1" indent="0">
              <a:buNone/>
            </a:pPr>
            <a:r>
              <a:rPr lang="fr-FR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fr-FR" sz="1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fr-FR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463935" y="1988840"/>
            <a:ext cx="8229600" cy="2088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Structure des files de messages </a:t>
            </a:r>
            <a:r>
              <a:rPr lang="fr-FR" sz="1400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Qcr</a:t>
            </a:r>
            <a:r>
              <a:rPr lang="fr-FR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et </a:t>
            </a:r>
            <a:r>
              <a:rPr lang="fr-FR" sz="1400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Qncr</a:t>
            </a:r>
            <a:r>
              <a:rPr lang="fr-FR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 	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fr-FR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Structure de la file de messages </a:t>
            </a:r>
            <a:r>
              <a:rPr lang="fr-FR" sz="1400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Qimp</a:t>
            </a:r>
            <a:r>
              <a:rPr lang="fr-FR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 		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fr-FR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ype_malade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fr-FR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Structure du tube : 			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type_malade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fr-FR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Structure du tampon: 			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type_malade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fr-FR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où </a:t>
            </a:r>
            <a:r>
              <a:rPr lang="fr-FR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type_malade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prend 1 pour le malade critique, 2 pour le malade non critique.</a:t>
            </a:r>
            <a:endParaRPr lang="fr-FR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457200" lvl="1" indent="0">
              <a:buFont typeface="Arial" pitchFamily="34" charset="0"/>
              <a:buNone/>
            </a:pPr>
            <a:endParaRPr lang="fr-FR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09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43276" y="692696"/>
            <a:ext cx="82451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smtClean="0">
                <a:solidFill>
                  <a:prstClr val="black"/>
                </a:solidFill>
              </a:rPr>
              <a:t>Processus </a:t>
            </a:r>
            <a:r>
              <a:rPr lang="fr-FR" sz="1400" b="1" dirty="0" err="1" smtClean="0">
                <a:solidFill>
                  <a:prstClr val="black"/>
                </a:solidFill>
              </a:rPr>
              <a:t>MaladeCr</a:t>
            </a:r>
            <a:r>
              <a:rPr lang="fr-FR" sz="1400" b="1" dirty="0" smtClean="0">
                <a:solidFill>
                  <a:prstClr val="black"/>
                </a:solidFill>
              </a:rPr>
              <a:t> ()</a:t>
            </a:r>
            <a:endParaRPr lang="fr-FR" sz="1400" b="1" baseline="-25000" dirty="0">
              <a:solidFill>
                <a:prstClr val="black"/>
              </a:solidFill>
            </a:endParaRPr>
          </a:p>
          <a:p>
            <a:r>
              <a:rPr lang="fr-FR" sz="1400" dirty="0">
                <a:solidFill>
                  <a:prstClr val="black"/>
                </a:solidFill>
              </a:rPr>
              <a:t>mess1: structure de format : 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fr-FR" sz="1400" dirty="0">
                <a:solidFill>
                  <a:prstClr val="black"/>
                </a:solidFill>
              </a:rPr>
              <a:t>mess2: structure de format: (</a:t>
            </a:r>
            <a:r>
              <a:rPr lang="fr-FR" sz="1400" dirty="0" err="1">
                <a:solidFill>
                  <a:prstClr val="black"/>
                </a:solidFill>
              </a:rPr>
              <a:t>type_malade</a:t>
            </a:r>
            <a:r>
              <a:rPr lang="fr-FR" sz="1400" dirty="0">
                <a:solidFill>
                  <a:prstClr val="black"/>
                </a:solidFill>
              </a:rPr>
              <a:t>,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fr-FR" sz="1400" dirty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entier i:=0; // numéro malade</a:t>
            </a:r>
          </a:p>
          <a:p>
            <a:r>
              <a:rPr lang="fr-FR" sz="1400" dirty="0">
                <a:solidFill>
                  <a:prstClr val="black"/>
                </a:solidFill>
              </a:rPr>
              <a:t>e</a:t>
            </a:r>
            <a:r>
              <a:rPr lang="fr-FR" sz="1400" dirty="0" smtClean="0">
                <a:solidFill>
                  <a:prstClr val="black"/>
                </a:solidFill>
              </a:rPr>
              <a:t>ntier </a:t>
            </a:r>
            <a:r>
              <a:rPr lang="fr-FR" sz="1400" dirty="0" err="1">
                <a:solidFill>
                  <a:prstClr val="black"/>
                </a:solidFill>
              </a:rPr>
              <a:t>n</a:t>
            </a:r>
            <a:r>
              <a:rPr lang="fr-FR" sz="1400" dirty="0" err="1" smtClean="0">
                <a:solidFill>
                  <a:prstClr val="black"/>
                </a:solidFill>
              </a:rPr>
              <a:t>b_rep</a:t>
            </a:r>
            <a:r>
              <a:rPr lang="fr-FR" sz="1400" dirty="0" smtClean="0">
                <a:solidFill>
                  <a:prstClr val="black"/>
                </a:solidFill>
              </a:rPr>
              <a:t>:=0; // nombre d’organes reçus</a:t>
            </a:r>
          </a:p>
          <a:p>
            <a:pPr lvl="0"/>
            <a:r>
              <a:rPr lang="fr-FR" sz="1400" dirty="0" smtClean="0">
                <a:solidFill>
                  <a:prstClr val="black"/>
                </a:solidFill>
              </a:rPr>
              <a:t>liste de format: 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// enregistre les organes commandés et non encore reçus</a:t>
            </a:r>
            <a:endParaRPr lang="fr-FR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fr-FR" sz="1400" dirty="0" err="1" smtClean="0">
                <a:solidFill>
                  <a:prstClr val="black"/>
                </a:solidFill>
              </a:rPr>
              <a:t>repeter</a:t>
            </a:r>
            <a:endParaRPr lang="fr-FR" sz="1400" dirty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Si (i&lt;M1) &amp; </a:t>
            </a:r>
            <a:r>
              <a:rPr lang="fr-FR" sz="1400" dirty="0" err="1" smtClean="0">
                <a:solidFill>
                  <a:prstClr val="black"/>
                </a:solidFill>
              </a:rPr>
              <a:t>Agenerer</a:t>
            </a:r>
            <a:r>
              <a:rPr lang="fr-FR" sz="1400" dirty="0" smtClean="0">
                <a:solidFill>
                  <a:prstClr val="black"/>
                </a:solidFill>
              </a:rPr>
              <a:t>() Alors // la fonction retourne une valeur booléenne</a:t>
            </a:r>
          </a:p>
          <a:p>
            <a:r>
              <a:rPr lang="fr-FR" sz="1400" dirty="0">
                <a:solidFill>
                  <a:prstClr val="black"/>
                </a:solidFill>
              </a:rPr>
              <a:t> </a:t>
            </a:r>
            <a:r>
              <a:rPr lang="fr-FR" sz="1400" dirty="0" smtClean="0">
                <a:solidFill>
                  <a:prstClr val="black"/>
                </a:solidFill>
              </a:rPr>
              <a:t>  i:=i+1; // prochain numéro de malade pour lequel on doit générer un organe</a:t>
            </a:r>
          </a:p>
          <a:p>
            <a:r>
              <a:rPr lang="fr-FR" sz="1400" dirty="0">
                <a:solidFill>
                  <a:prstClr val="black"/>
                </a:solidFill>
              </a:rPr>
              <a:t> </a:t>
            </a:r>
            <a:r>
              <a:rPr lang="fr-FR" sz="1400" dirty="0" smtClean="0">
                <a:solidFill>
                  <a:prstClr val="black"/>
                </a:solidFill>
              </a:rPr>
              <a:t>  j:= rand() </a:t>
            </a:r>
            <a:r>
              <a:rPr lang="fr-FR" sz="1400" dirty="0" err="1" smtClean="0">
                <a:solidFill>
                  <a:prstClr val="black"/>
                </a:solidFill>
              </a:rPr>
              <a:t>mod</a:t>
            </a:r>
            <a:r>
              <a:rPr lang="fr-FR" sz="1400" dirty="0" smtClean="0">
                <a:solidFill>
                  <a:prstClr val="black"/>
                </a:solidFill>
              </a:rPr>
              <a:t> N1+1;// numéro organe généré aléatoirement</a:t>
            </a:r>
          </a:p>
          <a:p>
            <a:r>
              <a:rPr lang="fr-FR" sz="1400" dirty="0">
                <a:solidFill>
                  <a:prstClr val="black"/>
                </a:solidFill>
              </a:rPr>
              <a:t> </a:t>
            </a:r>
            <a:r>
              <a:rPr lang="fr-FR" sz="1400" dirty="0" smtClean="0">
                <a:solidFill>
                  <a:prstClr val="black"/>
                </a:solidFill>
              </a:rPr>
              <a:t>  mess1.num_malade:=i; mess1.num_organe:=j; envoyer (</a:t>
            </a:r>
            <a:r>
              <a:rPr lang="fr-FR" sz="1400" dirty="0" err="1" smtClean="0">
                <a:solidFill>
                  <a:prstClr val="black"/>
                </a:solidFill>
              </a:rPr>
              <a:t>Qcr</a:t>
            </a:r>
            <a:r>
              <a:rPr lang="fr-FR" sz="1400" dirty="0" smtClean="0">
                <a:solidFill>
                  <a:prstClr val="black"/>
                </a:solidFill>
              </a:rPr>
              <a:t>, mess1);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   enregistrer( liste,  mess1) // enregistre localement les informations sur la commande faite</a:t>
            </a:r>
          </a:p>
          <a:p>
            <a:r>
              <a:rPr lang="fr-FR" sz="1400" dirty="0" err="1" smtClean="0">
                <a:solidFill>
                  <a:prstClr val="black"/>
                </a:solidFill>
              </a:rPr>
              <a:t>Fsi</a:t>
            </a:r>
            <a:r>
              <a:rPr lang="fr-FR" sz="1400" dirty="0" smtClean="0">
                <a:solidFill>
                  <a:prstClr val="black"/>
                </a:solidFill>
              </a:rPr>
              <a:t>;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Si </a:t>
            </a:r>
            <a:r>
              <a:rPr lang="fr-FR" sz="1400" dirty="0" err="1" smtClean="0">
                <a:solidFill>
                  <a:prstClr val="black"/>
                </a:solidFill>
              </a:rPr>
              <a:t>recu</a:t>
            </a:r>
            <a:r>
              <a:rPr lang="fr-FR" sz="1400" dirty="0" smtClean="0">
                <a:solidFill>
                  <a:prstClr val="black"/>
                </a:solidFill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</a:rPr>
              <a:t>Qimpl</a:t>
            </a:r>
            <a:r>
              <a:rPr lang="fr-FR" sz="1400" dirty="0" smtClean="0">
                <a:solidFill>
                  <a:prstClr val="black"/>
                </a:solidFill>
              </a:rPr>
              <a:t>, mess2) Alors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    Supprimer (liste, mess2);// Supprime mess2 de la liste locale</a:t>
            </a:r>
          </a:p>
          <a:p>
            <a:r>
              <a:rPr lang="fr-FR" sz="1400" dirty="0">
                <a:solidFill>
                  <a:prstClr val="black"/>
                </a:solidFill>
              </a:rPr>
              <a:t> </a:t>
            </a:r>
            <a:r>
              <a:rPr lang="fr-FR" sz="1400" dirty="0" smtClean="0">
                <a:solidFill>
                  <a:prstClr val="black"/>
                </a:solidFill>
              </a:rPr>
              <a:t>   </a:t>
            </a:r>
            <a:r>
              <a:rPr lang="fr-FR" sz="1400" dirty="0" err="1" smtClean="0">
                <a:solidFill>
                  <a:prstClr val="black"/>
                </a:solidFill>
              </a:rPr>
              <a:t>nb_rep</a:t>
            </a:r>
            <a:r>
              <a:rPr lang="fr-FR" sz="1400" dirty="0" smtClean="0">
                <a:solidFill>
                  <a:prstClr val="black"/>
                </a:solidFill>
              </a:rPr>
              <a:t>:=nb_rep+1</a:t>
            </a:r>
          </a:p>
          <a:p>
            <a:r>
              <a:rPr lang="fr-FR" sz="1400" dirty="0" err="1" smtClean="0">
                <a:solidFill>
                  <a:prstClr val="black"/>
                </a:solidFill>
              </a:rPr>
              <a:t>Fsi</a:t>
            </a:r>
            <a:r>
              <a:rPr lang="fr-FR" sz="1400" dirty="0" smtClean="0">
                <a:solidFill>
                  <a:prstClr val="black"/>
                </a:solidFill>
              </a:rPr>
              <a:t>;</a:t>
            </a:r>
            <a:endParaRPr lang="fr-FR" sz="1400" dirty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Jusqu’à (</a:t>
            </a:r>
            <a:r>
              <a:rPr lang="fr-FR" sz="1400" dirty="0" err="1" smtClean="0">
                <a:solidFill>
                  <a:prstClr val="black"/>
                </a:solidFill>
              </a:rPr>
              <a:t>nb_rep</a:t>
            </a:r>
            <a:r>
              <a:rPr lang="fr-FR" sz="1400" dirty="0" smtClean="0">
                <a:solidFill>
                  <a:prstClr val="black"/>
                </a:solidFill>
              </a:rPr>
              <a:t>=M1);</a:t>
            </a:r>
            <a:endParaRPr lang="fr-FR" sz="140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1840" y="260648"/>
            <a:ext cx="27104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>
                <a:solidFill>
                  <a:prstClr val="black"/>
                </a:solidFill>
              </a:rPr>
              <a:t>Comportement des processus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43276" y="4797152"/>
            <a:ext cx="82451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prstClr val="black"/>
                </a:solidFill>
              </a:rPr>
              <a:t>Le texte du processus </a:t>
            </a:r>
            <a:r>
              <a:rPr lang="fr-FR" sz="1400" dirty="0" err="1" smtClean="0">
                <a:solidFill>
                  <a:prstClr val="black"/>
                </a:solidFill>
              </a:rPr>
              <a:t>Malade_NCr</a:t>
            </a:r>
            <a:r>
              <a:rPr lang="fr-FR" sz="1400" dirty="0" smtClean="0">
                <a:solidFill>
                  <a:prstClr val="black"/>
                </a:solidFill>
              </a:rPr>
              <a:t> () est symétrique au texte du processus </a:t>
            </a:r>
            <a:r>
              <a:rPr lang="fr-FR" sz="1400" dirty="0" err="1" smtClean="0">
                <a:solidFill>
                  <a:prstClr val="black"/>
                </a:solidFill>
              </a:rPr>
              <a:t>Malade_CR</a:t>
            </a:r>
            <a:r>
              <a:rPr lang="fr-FR" sz="1400" dirty="0" smtClean="0">
                <a:solidFill>
                  <a:prstClr val="black"/>
                </a:solidFill>
              </a:rPr>
              <a:t>. Il suffit de remplacer:</a:t>
            </a:r>
          </a:p>
          <a:p>
            <a:r>
              <a:rPr lang="fr-FR" sz="1400" dirty="0">
                <a:solidFill>
                  <a:prstClr val="black"/>
                </a:solidFill>
              </a:rPr>
              <a:t>	</a:t>
            </a:r>
            <a:r>
              <a:rPr lang="fr-FR" sz="1400" dirty="0" smtClean="0">
                <a:solidFill>
                  <a:prstClr val="black"/>
                </a:solidFill>
              </a:rPr>
              <a:t>- M1 par M2</a:t>
            </a:r>
          </a:p>
          <a:p>
            <a:r>
              <a:rPr lang="fr-FR" sz="1400" dirty="0">
                <a:solidFill>
                  <a:prstClr val="black"/>
                </a:solidFill>
              </a:rPr>
              <a:t>	</a:t>
            </a:r>
            <a:r>
              <a:rPr lang="fr-FR" sz="1400" dirty="0" smtClean="0">
                <a:solidFill>
                  <a:prstClr val="black"/>
                </a:solidFill>
              </a:rPr>
              <a:t>- N1 par N2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	- </a:t>
            </a:r>
            <a:r>
              <a:rPr lang="fr-FR" sz="1400" dirty="0" err="1" smtClean="0">
                <a:solidFill>
                  <a:prstClr val="black"/>
                </a:solidFill>
              </a:rPr>
              <a:t>Qcr</a:t>
            </a:r>
            <a:r>
              <a:rPr lang="fr-FR" sz="1400" dirty="0" smtClean="0">
                <a:solidFill>
                  <a:prstClr val="black"/>
                </a:solidFill>
              </a:rPr>
              <a:t> par </a:t>
            </a:r>
            <a:r>
              <a:rPr lang="fr-FR" sz="1400" dirty="0" err="1" smtClean="0">
                <a:solidFill>
                  <a:prstClr val="black"/>
                </a:solidFill>
              </a:rPr>
              <a:t>Qncr</a:t>
            </a:r>
            <a:endParaRPr lang="fr-FR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89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395536" y="599202"/>
            <a:ext cx="82089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smtClean="0">
                <a:solidFill>
                  <a:prstClr val="black"/>
                </a:solidFill>
              </a:rPr>
              <a:t>Processus Chirurgien ()</a:t>
            </a:r>
            <a:endParaRPr lang="fr-FR" sz="1400" b="1" baseline="-25000" dirty="0">
              <a:solidFill>
                <a:prstClr val="black"/>
              </a:solidFill>
            </a:endParaRPr>
          </a:p>
          <a:p>
            <a:endParaRPr lang="fr-FR" sz="1400" dirty="0" smtClean="0">
              <a:solidFill>
                <a:prstClr val="black"/>
              </a:solidFill>
            </a:endParaRPr>
          </a:p>
          <a:p>
            <a:r>
              <a:rPr lang="fr-FR" sz="1400" dirty="0">
                <a:solidFill>
                  <a:prstClr val="black"/>
                </a:solidFill>
              </a:rPr>
              <a:t>mess1: structure de format : 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fr-FR" sz="1400" dirty="0">
                <a:solidFill>
                  <a:prstClr val="black"/>
                </a:solidFill>
              </a:rPr>
              <a:t>mess2: structure de format: (</a:t>
            </a:r>
            <a:r>
              <a:rPr lang="fr-FR" sz="1400" dirty="0" err="1">
                <a:solidFill>
                  <a:prstClr val="black"/>
                </a:solidFill>
              </a:rPr>
              <a:t>type_malade</a:t>
            </a:r>
            <a:r>
              <a:rPr lang="fr-FR" sz="1400" dirty="0">
                <a:solidFill>
                  <a:prstClr val="black"/>
                </a:solidFill>
              </a:rPr>
              <a:t>,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fr-FR" sz="1400" dirty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entier i1:=0; // nombre de requêtes reçues du processus malade critique</a:t>
            </a:r>
          </a:p>
          <a:p>
            <a:r>
              <a:rPr lang="fr-FR" sz="1400" dirty="0">
                <a:solidFill>
                  <a:prstClr val="black"/>
                </a:solidFill>
              </a:rPr>
              <a:t>entier </a:t>
            </a:r>
            <a:r>
              <a:rPr lang="fr-FR" sz="1400" dirty="0" smtClean="0">
                <a:solidFill>
                  <a:prstClr val="black"/>
                </a:solidFill>
              </a:rPr>
              <a:t>i2:=0; </a:t>
            </a:r>
            <a:r>
              <a:rPr lang="fr-FR" sz="1400" dirty="0">
                <a:solidFill>
                  <a:prstClr val="black"/>
                </a:solidFill>
              </a:rPr>
              <a:t>// nombre de requêtes reçues du processus malade </a:t>
            </a:r>
            <a:r>
              <a:rPr lang="fr-FR" sz="1400" dirty="0" smtClean="0">
                <a:solidFill>
                  <a:prstClr val="black"/>
                </a:solidFill>
              </a:rPr>
              <a:t>non critique</a:t>
            </a:r>
            <a:endParaRPr lang="fr-FR" sz="1400" dirty="0">
              <a:solidFill>
                <a:prstClr val="black"/>
              </a:solidFill>
            </a:endParaRPr>
          </a:p>
          <a:p>
            <a:r>
              <a:rPr lang="fr-FR" sz="1400" dirty="0">
                <a:solidFill>
                  <a:prstClr val="black"/>
                </a:solidFill>
              </a:rPr>
              <a:t>e</a:t>
            </a:r>
            <a:r>
              <a:rPr lang="fr-FR" sz="1400" dirty="0" smtClean="0">
                <a:solidFill>
                  <a:prstClr val="black"/>
                </a:solidFill>
              </a:rPr>
              <a:t>ntier </a:t>
            </a:r>
            <a:r>
              <a:rPr lang="fr-FR" sz="1400" dirty="0" err="1" smtClean="0">
                <a:solidFill>
                  <a:prstClr val="black"/>
                </a:solidFill>
              </a:rPr>
              <a:t>nb_rep</a:t>
            </a:r>
            <a:r>
              <a:rPr lang="fr-FR" sz="1400" dirty="0" smtClean="0">
                <a:solidFill>
                  <a:prstClr val="black"/>
                </a:solidFill>
              </a:rPr>
              <a:t>:=0; //nombre de commandes honorées</a:t>
            </a:r>
          </a:p>
          <a:p>
            <a:r>
              <a:rPr lang="fr-FR" sz="1400" dirty="0" err="1" smtClean="0">
                <a:solidFill>
                  <a:prstClr val="black"/>
                </a:solidFill>
              </a:rPr>
              <a:t>repeter</a:t>
            </a:r>
            <a:endParaRPr lang="fr-FR" sz="1400" dirty="0" smtClean="0">
              <a:solidFill>
                <a:prstClr val="black"/>
              </a:solidFill>
            </a:endParaRPr>
          </a:p>
          <a:p>
            <a:r>
              <a:rPr lang="fr-FR" sz="1400" dirty="0">
                <a:solidFill>
                  <a:prstClr val="black"/>
                </a:solidFill>
              </a:rPr>
              <a:t>Si (</a:t>
            </a:r>
            <a:r>
              <a:rPr lang="fr-FR" sz="1400" dirty="0" smtClean="0">
                <a:solidFill>
                  <a:prstClr val="black"/>
                </a:solidFill>
              </a:rPr>
              <a:t>i1&lt;M1</a:t>
            </a:r>
            <a:r>
              <a:rPr lang="fr-FR" sz="1400" dirty="0">
                <a:solidFill>
                  <a:prstClr val="black"/>
                </a:solidFill>
              </a:rPr>
              <a:t>) &amp; </a:t>
            </a:r>
            <a:r>
              <a:rPr lang="fr-FR" sz="1400" dirty="0" err="1" smtClean="0">
                <a:solidFill>
                  <a:prstClr val="black"/>
                </a:solidFill>
              </a:rPr>
              <a:t>recu</a:t>
            </a:r>
            <a:r>
              <a:rPr lang="fr-FR" sz="1400" dirty="0" smtClean="0">
                <a:solidFill>
                  <a:prstClr val="black"/>
                </a:solidFill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</a:rPr>
              <a:t>Qcr</a:t>
            </a:r>
            <a:r>
              <a:rPr lang="fr-FR" sz="1400" dirty="0" smtClean="0">
                <a:solidFill>
                  <a:prstClr val="black"/>
                </a:solidFill>
              </a:rPr>
              <a:t>, mess1) </a:t>
            </a:r>
            <a:r>
              <a:rPr lang="fr-FR" sz="1400" dirty="0">
                <a:solidFill>
                  <a:prstClr val="black"/>
                </a:solidFill>
              </a:rPr>
              <a:t>Alors 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   i1:=i1+1</a:t>
            </a:r>
            <a:r>
              <a:rPr lang="fr-FR" sz="1400" dirty="0">
                <a:solidFill>
                  <a:prstClr val="black"/>
                </a:solidFill>
              </a:rPr>
              <a:t>; </a:t>
            </a:r>
            <a:r>
              <a:rPr lang="fr-FR" sz="1400" dirty="0" smtClean="0">
                <a:solidFill>
                  <a:prstClr val="black"/>
                </a:solidFill>
              </a:rPr>
              <a:t>mess2. </a:t>
            </a:r>
            <a:r>
              <a:rPr lang="fr-FR" sz="1400" dirty="0" err="1" smtClean="0">
                <a:solidFill>
                  <a:prstClr val="black"/>
                </a:solidFill>
              </a:rPr>
              <a:t>type_malade</a:t>
            </a:r>
            <a:r>
              <a:rPr lang="fr-FR" sz="1400" dirty="0" smtClean="0">
                <a:solidFill>
                  <a:prstClr val="black"/>
                </a:solidFill>
              </a:rPr>
              <a:t>:=1; mess2.num_malade:=mess1.num_malade;</a:t>
            </a:r>
          </a:p>
          <a:p>
            <a:r>
              <a:rPr lang="fr-FR" sz="1400" dirty="0">
                <a:solidFill>
                  <a:prstClr val="black"/>
                </a:solidFill>
              </a:rPr>
              <a:t>m</a:t>
            </a:r>
            <a:r>
              <a:rPr lang="fr-FR" sz="1400" dirty="0" smtClean="0">
                <a:solidFill>
                  <a:prstClr val="black"/>
                </a:solidFill>
              </a:rPr>
              <a:t>ess2.num_organe:= mess1.num_organe); envoyer (tube, mess2)</a:t>
            </a:r>
          </a:p>
          <a:p>
            <a:r>
              <a:rPr lang="fr-FR" sz="1400" dirty="0" err="1" smtClean="0">
                <a:solidFill>
                  <a:prstClr val="black"/>
                </a:solidFill>
              </a:rPr>
              <a:t>Fsi</a:t>
            </a:r>
            <a:r>
              <a:rPr lang="fr-FR" sz="1400" dirty="0" smtClean="0">
                <a:solidFill>
                  <a:prstClr val="black"/>
                </a:solidFill>
              </a:rPr>
              <a:t>;</a:t>
            </a:r>
          </a:p>
          <a:p>
            <a:r>
              <a:rPr lang="fr-FR" sz="1400" dirty="0">
                <a:solidFill>
                  <a:prstClr val="black"/>
                </a:solidFill>
              </a:rPr>
              <a:t>Si (</a:t>
            </a:r>
            <a:r>
              <a:rPr lang="fr-FR" sz="1400" dirty="0" smtClean="0">
                <a:solidFill>
                  <a:prstClr val="black"/>
                </a:solidFill>
              </a:rPr>
              <a:t>i2&lt;M2) </a:t>
            </a:r>
            <a:r>
              <a:rPr lang="fr-FR" sz="1400" dirty="0">
                <a:solidFill>
                  <a:prstClr val="black"/>
                </a:solidFill>
              </a:rPr>
              <a:t>&amp; </a:t>
            </a:r>
            <a:r>
              <a:rPr lang="fr-FR" sz="1400" dirty="0" err="1" smtClean="0">
                <a:solidFill>
                  <a:prstClr val="black"/>
                </a:solidFill>
              </a:rPr>
              <a:t>recu</a:t>
            </a:r>
            <a:r>
              <a:rPr lang="fr-FR" sz="1400" dirty="0" smtClean="0">
                <a:solidFill>
                  <a:prstClr val="black"/>
                </a:solidFill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</a:rPr>
              <a:t>Qncr</a:t>
            </a:r>
            <a:r>
              <a:rPr lang="fr-FR" sz="1400" dirty="0">
                <a:solidFill>
                  <a:prstClr val="black"/>
                </a:solidFill>
              </a:rPr>
              <a:t>, mess1) Alors </a:t>
            </a:r>
          </a:p>
          <a:p>
            <a:r>
              <a:rPr lang="fr-FR" sz="1400" dirty="0">
                <a:solidFill>
                  <a:prstClr val="black"/>
                </a:solidFill>
              </a:rPr>
              <a:t>   </a:t>
            </a:r>
            <a:r>
              <a:rPr lang="fr-FR" sz="1400" dirty="0" smtClean="0">
                <a:solidFill>
                  <a:prstClr val="black"/>
                </a:solidFill>
              </a:rPr>
              <a:t>i2:=i2+1</a:t>
            </a:r>
            <a:r>
              <a:rPr lang="fr-FR" sz="1400" dirty="0">
                <a:solidFill>
                  <a:prstClr val="black"/>
                </a:solidFill>
              </a:rPr>
              <a:t>; </a:t>
            </a:r>
            <a:r>
              <a:rPr lang="fr-FR" sz="1400" dirty="0" smtClean="0">
                <a:solidFill>
                  <a:prstClr val="black"/>
                </a:solidFill>
              </a:rPr>
              <a:t>mess2</a:t>
            </a:r>
            <a:r>
              <a:rPr lang="fr-FR" sz="1400" dirty="0">
                <a:solidFill>
                  <a:prstClr val="black"/>
                </a:solidFill>
              </a:rPr>
              <a:t>. </a:t>
            </a:r>
            <a:r>
              <a:rPr lang="fr-FR" sz="1400" dirty="0" err="1">
                <a:solidFill>
                  <a:prstClr val="black"/>
                </a:solidFill>
              </a:rPr>
              <a:t>type_malade</a:t>
            </a:r>
            <a:r>
              <a:rPr lang="fr-FR" sz="1400" dirty="0" smtClean="0">
                <a:solidFill>
                  <a:prstClr val="black"/>
                </a:solidFill>
              </a:rPr>
              <a:t>:=2; mess2.num_malade:=</a:t>
            </a:r>
            <a:r>
              <a:rPr lang="fr-FR" sz="1400" dirty="0">
                <a:solidFill>
                  <a:prstClr val="black"/>
                </a:solidFill>
              </a:rPr>
              <a:t>mess1.num_malade;</a:t>
            </a:r>
          </a:p>
          <a:p>
            <a:r>
              <a:rPr lang="fr-FR" sz="1400" dirty="0">
                <a:solidFill>
                  <a:prstClr val="black"/>
                </a:solidFill>
              </a:rPr>
              <a:t>mess2.num_organe:= mess1.num_organe</a:t>
            </a:r>
            <a:r>
              <a:rPr lang="fr-FR" sz="1400" dirty="0" smtClean="0">
                <a:solidFill>
                  <a:prstClr val="black"/>
                </a:solidFill>
              </a:rPr>
              <a:t>); </a:t>
            </a:r>
            <a:r>
              <a:rPr lang="fr-FR" sz="1400" dirty="0">
                <a:solidFill>
                  <a:prstClr val="black"/>
                </a:solidFill>
              </a:rPr>
              <a:t>envoyer (tube, mess2)</a:t>
            </a:r>
          </a:p>
          <a:p>
            <a:r>
              <a:rPr lang="fr-FR" sz="1400" dirty="0" err="1">
                <a:solidFill>
                  <a:prstClr val="black"/>
                </a:solidFill>
              </a:rPr>
              <a:t>Fsi</a:t>
            </a:r>
            <a:r>
              <a:rPr lang="fr-FR" sz="1400" dirty="0">
                <a:solidFill>
                  <a:prstClr val="black"/>
                </a:solidFill>
              </a:rPr>
              <a:t>;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P(</a:t>
            </a:r>
            <a:r>
              <a:rPr lang="fr-FR" sz="1400" dirty="0" err="1" smtClean="0">
                <a:solidFill>
                  <a:prstClr val="black"/>
                </a:solidFill>
              </a:rPr>
              <a:t>mutex</a:t>
            </a:r>
            <a:r>
              <a:rPr lang="fr-FR" sz="1400" dirty="0" smtClean="0">
                <a:solidFill>
                  <a:prstClr val="black"/>
                </a:solidFill>
              </a:rPr>
              <a:t>);</a:t>
            </a:r>
            <a:endParaRPr lang="fr-FR" sz="1400" dirty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Si (cpt&lt;&gt;0) Alors V(</a:t>
            </a:r>
            <a:r>
              <a:rPr lang="fr-FR" sz="1400" dirty="0" err="1" smtClean="0">
                <a:solidFill>
                  <a:prstClr val="black"/>
                </a:solidFill>
              </a:rPr>
              <a:t>mutex</a:t>
            </a:r>
            <a:r>
              <a:rPr lang="fr-FR" sz="1400" dirty="0" smtClean="0">
                <a:solidFill>
                  <a:prstClr val="black"/>
                </a:solidFill>
              </a:rPr>
              <a:t>); </a:t>
            </a:r>
            <a:r>
              <a:rPr lang="fr-FR" sz="1400" dirty="0" err="1" smtClean="0">
                <a:solidFill>
                  <a:prstClr val="black"/>
                </a:solidFill>
              </a:rPr>
              <a:t>Prelever</a:t>
            </a:r>
            <a:r>
              <a:rPr lang="fr-FR" sz="1400" dirty="0" smtClean="0">
                <a:solidFill>
                  <a:prstClr val="black"/>
                </a:solidFill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</a:rPr>
              <a:t>Torgane</a:t>
            </a:r>
            <a:r>
              <a:rPr lang="fr-FR" sz="1400" dirty="0" smtClean="0">
                <a:solidFill>
                  <a:prstClr val="black"/>
                </a:solidFill>
              </a:rPr>
              <a:t>, mess2); P(</a:t>
            </a:r>
            <a:r>
              <a:rPr lang="fr-FR" sz="1400" dirty="0" err="1" smtClean="0">
                <a:solidFill>
                  <a:prstClr val="black"/>
                </a:solidFill>
              </a:rPr>
              <a:t>mutex</a:t>
            </a:r>
            <a:r>
              <a:rPr lang="fr-FR" sz="1400" dirty="0" smtClean="0">
                <a:solidFill>
                  <a:prstClr val="black"/>
                </a:solidFill>
              </a:rPr>
              <a:t>); cpt:=cpt-1; V(</a:t>
            </a:r>
            <a:r>
              <a:rPr lang="fr-FR" sz="1400" dirty="0" err="1" smtClean="0">
                <a:solidFill>
                  <a:prstClr val="black"/>
                </a:solidFill>
              </a:rPr>
              <a:t>mutex</a:t>
            </a:r>
            <a:r>
              <a:rPr lang="fr-FR" sz="1400" dirty="0" smtClean="0">
                <a:solidFill>
                  <a:prstClr val="black"/>
                </a:solidFill>
              </a:rPr>
              <a:t>); V(</a:t>
            </a:r>
            <a:r>
              <a:rPr lang="fr-FR" sz="1400" dirty="0" err="1" smtClean="0">
                <a:solidFill>
                  <a:prstClr val="black"/>
                </a:solidFill>
              </a:rPr>
              <a:t>nvide</a:t>
            </a:r>
            <a:r>
              <a:rPr lang="fr-FR" sz="1400" dirty="0" smtClean="0">
                <a:solidFill>
                  <a:prstClr val="black"/>
                </a:solidFill>
              </a:rPr>
              <a:t>); </a:t>
            </a:r>
          </a:p>
          <a:p>
            <a:r>
              <a:rPr lang="fr-FR" sz="1400" dirty="0">
                <a:solidFill>
                  <a:prstClr val="black"/>
                </a:solidFill>
              </a:rPr>
              <a:t> </a:t>
            </a:r>
            <a:r>
              <a:rPr lang="fr-FR" sz="1400" dirty="0" smtClean="0">
                <a:solidFill>
                  <a:prstClr val="black"/>
                </a:solidFill>
              </a:rPr>
              <a:t>                              envoyer (</a:t>
            </a:r>
            <a:r>
              <a:rPr lang="fr-FR" sz="1400" dirty="0" err="1" smtClean="0">
                <a:solidFill>
                  <a:prstClr val="black"/>
                </a:solidFill>
              </a:rPr>
              <a:t>Qimp</a:t>
            </a:r>
            <a:r>
              <a:rPr lang="fr-FR" sz="1400" dirty="0" smtClean="0">
                <a:solidFill>
                  <a:prstClr val="black"/>
                </a:solidFill>
              </a:rPr>
              <a:t>, mess2); </a:t>
            </a:r>
            <a:r>
              <a:rPr lang="fr-FR" sz="1400" dirty="0" err="1" smtClean="0">
                <a:solidFill>
                  <a:prstClr val="black"/>
                </a:solidFill>
              </a:rPr>
              <a:t>nb_rep</a:t>
            </a:r>
            <a:r>
              <a:rPr lang="fr-FR" sz="1400" dirty="0" smtClean="0">
                <a:solidFill>
                  <a:prstClr val="black"/>
                </a:solidFill>
              </a:rPr>
              <a:t>:=nb_rep+1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	Sinon V(</a:t>
            </a:r>
            <a:r>
              <a:rPr lang="fr-FR" sz="1400" dirty="0" err="1" smtClean="0">
                <a:solidFill>
                  <a:prstClr val="black"/>
                </a:solidFill>
              </a:rPr>
              <a:t>mutex</a:t>
            </a:r>
            <a:r>
              <a:rPr lang="fr-FR" sz="1400" dirty="0" smtClean="0">
                <a:solidFill>
                  <a:prstClr val="black"/>
                </a:solidFill>
              </a:rPr>
              <a:t>)</a:t>
            </a:r>
          </a:p>
          <a:p>
            <a:r>
              <a:rPr lang="fr-FR" sz="1400" dirty="0" err="1" smtClean="0">
                <a:solidFill>
                  <a:prstClr val="black"/>
                </a:solidFill>
              </a:rPr>
              <a:t>Fsi</a:t>
            </a:r>
            <a:endParaRPr lang="fr-FR" sz="1400" dirty="0" smtClean="0">
              <a:solidFill>
                <a:prstClr val="black"/>
              </a:solidFill>
            </a:endParaRPr>
          </a:p>
          <a:p>
            <a:r>
              <a:rPr lang="fr-FR" sz="1400" dirty="0">
                <a:solidFill>
                  <a:prstClr val="black"/>
                </a:solidFill>
              </a:rPr>
              <a:t>Jusqu’à </a:t>
            </a:r>
            <a:r>
              <a:rPr lang="fr-FR" sz="1400" dirty="0" smtClean="0">
                <a:solidFill>
                  <a:prstClr val="black"/>
                </a:solidFill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</a:rPr>
              <a:t>nb_rep</a:t>
            </a:r>
            <a:r>
              <a:rPr lang="fr-FR" sz="1400" dirty="0" smtClean="0">
                <a:solidFill>
                  <a:prstClr val="black"/>
                </a:solidFill>
              </a:rPr>
              <a:t>=M1+M2);</a:t>
            </a:r>
            <a:endParaRPr lang="fr-FR" sz="140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1840" y="260648"/>
            <a:ext cx="27104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>
                <a:solidFill>
                  <a:prstClr val="black"/>
                </a:solidFill>
              </a:rPr>
              <a:t>Comportement des processus</a:t>
            </a:r>
          </a:p>
        </p:txBody>
      </p:sp>
    </p:spTree>
    <p:extLst>
      <p:ext uri="{BB962C8B-B14F-4D97-AF65-F5344CB8AC3E}">
        <p14:creationId xmlns:p14="http://schemas.microsoft.com/office/powerpoint/2010/main" val="243671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179511" y="620688"/>
            <a:ext cx="849694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smtClean="0">
                <a:solidFill>
                  <a:prstClr val="black"/>
                </a:solidFill>
              </a:rPr>
              <a:t>Processus Donneur ()</a:t>
            </a:r>
            <a:endParaRPr lang="fr-FR" sz="1400" b="1" dirty="0">
              <a:solidFill>
                <a:prstClr val="black"/>
              </a:solidFill>
            </a:endParaRPr>
          </a:p>
          <a:p>
            <a:r>
              <a:rPr lang="fr-FR" sz="1400" dirty="0" err="1" smtClean="0">
                <a:solidFill>
                  <a:prstClr val="black"/>
                </a:solidFill>
              </a:rPr>
              <a:t>Tcr</a:t>
            </a:r>
            <a:r>
              <a:rPr lang="fr-FR" sz="1400" dirty="0" smtClean="0">
                <a:solidFill>
                  <a:prstClr val="black"/>
                </a:solidFill>
              </a:rPr>
              <a:t>: Tableau [1,,M1]de structure valide: booléen; </a:t>
            </a:r>
            <a:r>
              <a:rPr lang="fr-FR" sz="1400" dirty="0" err="1" smtClean="0">
                <a:solidFill>
                  <a:prstClr val="black"/>
                </a:solidFill>
              </a:rPr>
              <a:t>num_organe</a:t>
            </a:r>
            <a:r>
              <a:rPr lang="fr-FR" sz="1400" dirty="0" smtClean="0">
                <a:solidFill>
                  <a:prstClr val="black"/>
                </a:solidFill>
              </a:rPr>
              <a:t>: entier </a:t>
            </a:r>
            <a:r>
              <a:rPr lang="fr-FR" sz="1400" dirty="0" err="1" smtClean="0">
                <a:solidFill>
                  <a:prstClr val="black"/>
                </a:solidFill>
              </a:rPr>
              <a:t>fstructure</a:t>
            </a:r>
            <a:r>
              <a:rPr lang="fr-FR" sz="1400" dirty="0" smtClean="0">
                <a:solidFill>
                  <a:prstClr val="black"/>
                </a:solidFill>
              </a:rPr>
              <a:t>;</a:t>
            </a:r>
          </a:p>
          <a:p>
            <a:r>
              <a:rPr lang="fr-FR" sz="1400" dirty="0" err="1" smtClean="0">
                <a:solidFill>
                  <a:prstClr val="black"/>
                </a:solidFill>
              </a:rPr>
              <a:t>Tncr</a:t>
            </a:r>
            <a:r>
              <a:rPr lang="fr-FR" sz="1400" dirty="0">
                <a:solidFill>
                  <a:prstClr val="black"/>
                </a:solidFill>
              </a:rPr>
              <a:t>: Tableau [1,,</a:t>
            </a:r>
            <a:r>
              <a:rPr lang="fr-FR" sz="1400" dirty="0" smtClean="0">
                <a:solidFill>
                  <a:prstClr val="black"/>
                </a:solidFill>
              </a:rPr>
              <a:t>M2]de </a:t>
            </a:r>
            <a:r>
              <a:rPr lang="fr-FR" sz="1400" dirty="0">
                <a:solidFill>
                  <a:prstClr val="black"/>
                </a:solidFill>
              </a:rPr>
              <a:t>structure valide: booléen; </a:t>
            </a:r>
            <a:r>
              <a:rPr lang="fr-FR" sz="1400" dirty="0" err="1">
                <a:solidFill>
                  <a:prstClr val="black"/>
                </a:solidFill>
              </a:rPr>
              <a:t>num_organe</a:t>
            </a:r>
            <a:r>
              <a:rPr lang="fr-FR" sz="1400" dirty="0">
                <a:solidFill>
                  <a:prstClr val="black"/>
                </a:solidFill>
              </a:rPr>
              <a:t>: entier </a:t>
            </a:r>
            <a:r>
              <a:rPr lang="fr-FR" sz="1400" dirty="0" err="1">
                <a:solidFill>
                  <a:prstClr val="black"/>
                </a:solidFill>
              </a:rPr>
              <a:t>fstructure</a:t>
            </a:r>
            <a:r>
              <a:rPr lang="fr-FR" sz="1400" dirty="0">
                <a:solidFill>
                  <a:prstClr val="black"/>
                </a:solidFill>
              </a:rPr>
              <a:t>;</a:t>
            </a:r>
          </a:p>
          <a:p>
            <a:endParaRPr lang="fr-FR" sz="1400" dirty="0" smtClean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mess2</a:t>
            </a:r>
            <a:r>
              <a:rPr lang="fr-FR" sz="1400" dirty="0">
                <a:solidFill>
                  <a:prstClr val="black"/>
                </a:solidFill>
              </a:rPr>
              <a:t>: structure de format: (</a:t>
            </a:r>
            <a:r>
              <a:rPr lang="fr-FR" sz="1400" dirty="0" err="1">
                <a:solidFill>
                  <a:prstClr val="black"/>
                </a:solidFill>
              </a:rPr>
              <a:t>type_malade</a:t>
            </a:r>
            <a:r>
              <a:rPr lang="fr-FR" sz="1400" dirty="0">
                <a:solidFill>
                  <a:prstClr val="black"/>
                </a:solidFill>
              </a:rPr>
              <a:t>,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num_malade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1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num_organe</a:t>
            </a:r>
            <a:r>
              <a:rPr lang="fr-FR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fr-FR" sz="1400" dirty="0">
              <a:solidFill>
                <a:prstClr val="black"/>
              </a:solidFill>
            </a:endParaRPr>
          </a:p>
          <a:p>
            <a:r>
              <a:rPr lang="fr-FR" sz="1400" dirty="0">
                <a:solidFill>
                  <a:prstClr val="black"/>
                </a:solidFill>
              </a:rPr>
              <a:t>entier </a:t>
            </a:r>
            <a:r>
              <a:rPr lang="fr-FR" sz="1400" dirty="0" smtClean="0">
                <a:solidFill>
                  <a:prstClr val="black"/>
                </a:solidFill>
              </a:rPr>
              <a:t>i:=</a:t>
            </a:r>
            <a:r>
              <a:rPr lang="fr-FR" sz="1400" dirty="0">
                <a:solidFill>
                  <a:prstClr val="black"/>
                </a:solidFill>
              </a:rPr>
              <a:t>0; </a:t>
            </a:r>
            <a:r>
              <a:rPr lang="fr-FR" sz="1400" dirty="0" smtClean="0">
                <a:solidFill>
                  <a:prstClr val="black"/>
                </a:solidFill>
              </a:rPr>
              <a:t>/* </a:t>
            </a:r>
            <a:r>
              <a:rPr lang="fr-FR" sz="1400" dirty="0">
                <a:solidFill>
                  <a:prstClr val="black"/>
                </a:solidFill>
              </a:rPr>
              <a:t>nombre de </a:t>
            </a:r>
            <a:r>
              <a:rPr lang="fr-FR" sz="1400" dirty="0" smtClean="0">
                <a:solidFill>
                  <a:prstClr val="black"/>
                </a:solidFill>
              </a:rPr>
              <a:t>commandes impliquant les deux types de malades reçues </a:t>
            </a:r>
            <a:r>
              <a:rPr lang="fr-FR" sz="1400" dirty="0">
                <a:solidFill>
                  <a:prstClr val="black"/>
                </a:solidFill>
              </a:rPr>
              <a:t>du processus </a:t>
            </a:r>
            <a:r>
              <a:rPr lang="fr-FR" sz="1400" dirty="0" smtClean="0">
                <a:solidFill>
                  <a:prstClr val="black"/>
                </a:solidFill>
              </a:rPr>
              <a:t>chirurgien */</a:t>
            </a:r>
            <a:endParaRPr lang="fr-FR" sz="1400" dirty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entier </a:t>
            </a:r>
            <a:r>
              <a:rPr lang="fr-FR" sz="1400" dirty="0" err="1">
                <a:solidFill>
                  <a:prstClr val="black"/>
                </a:solidFill>
              </a:rPr>
              <a:t>nb_rep</a:t>
            </a:r>
            <a:r>
              <a:rPr lang="fr-FR" sz="1400" dirty="0">
                <a:solidFill>
                  <a:prstClr val="black"/>
                </a:solidFill>
              </a:rPr>
              <a:t>:=0; //nombre de commandes honorées</a:t>
            </a:r>
          </a:p>
          <a:p>
            <a:r>
              <a:rPr lang="fr-FR" sz="1400" dirty="0" err="1" smtClean="0">
                <a:solidFill>
                  <a:prstClr val="black"/>
                </a:solidFill>
              </a:rPr>
              <a:t>repeter</a:t>
            </a:r>
            <a:endParaRPr lang="fr-FR" sz="1400" dirty="0" smtClean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Si </a:t>
            </a:r>
            <a:r>
              <a:rPr lang="fr-FR" sz="1400" dirty="0">
                <a:solidFill>
                  <a:prstClr val="black"/>
                </a:solidFill>
              </a:rPr>
              <a:t>(i&lt;M1+M2) Alors</a:t>
            </a:r>
          </a:p>
          <a:p>
            <a:r>
              <a:rPr lang="fr-FR" sz="1400" dirty="0">
                <a:solidFill>
                  <a:prstClr val="black"/>
                </a:solidFill>
              </a:rPr>
              <a:t>   Si </a:t>
            </a:r>
            <a:r>
              <a:rPr lang="fr-FR" sz="1400" dirty="0" err="1">
                <a:solidFill>
                  <a:prstClr val="black"/>
                </a:solidFill>
              </a:rPr>
              <a:t>recu</a:t>
            </a:r>
            <a:r>
              <a:rPr lang="fr-FR" sz="1400" dirty="0">
                <a:solidFill>
                  <a:prstClr val="black"/>
                </a:solidFill>
              </a:rPr>
              <a:t> (tube, mess2) </a:t>
            </a:r>
            <a:r>
              <a:rPr lang="fr-FR" sz="1400" dirty="0" smtClean="0">
                <a:solidFill>
                  <a:prstClr val="black"/>
                </a:solidFill>
              </a:rPr>
              <a:t>Alors enregistrer (</a:t>
            </a:r>
            <a:r>
              <a:rPr lang="fr-FR" sz="1400" dirty="0" err="1" smtClean="0">
                <a:solidFill>
                  <a:prstClr val="black"/>
                </a:solidFill>
              </a:rPr>
              <a:t>Tcr</a:t>
            </a:r>
            <a:r>
              <a:rPr lang="fr-FR" sz="1400" dirty="0" smtClean="0">
                <a:solidFill>
                  <a:prstClr val="black"/>
                </a:solidFill>
              </a:rPr>
              <a:t>, </a:t>
            </a:r>
            <a:r>
              <a:rPr lang="fr-FR" sz="1400" dirty="0" err="1" smtClean="0">
                <a:solidFill>
                  <a:prstClr val="black"/>
                </a:solidFill>
              </a:rPr>
              <a:t>Tncr</a:t>
            </a:r>
            <a:r>
              <a:rPr lang="fr-FR" sz="1400" dirty="0" smtClean="0">
                <a:solidFill>
                  <a:prstClr val="black"/>
                </a:solidFill>
              </a:rPr>
              <a:t>, mess2); i:=i+1 </a:t>
            </a:r>
            <a:r>
              <a:rPr lang="fr-FR" sz="1400" dirty="0" err="1" smtClean="0">
                <a:solidFill>
                  <a:prstClr val="black"/>
                </a:solidFill>
              </a:rPr>
              <a:t>Fsi</a:t>
            </a:r>
            <a:endParaRPr lang="fr-FR" sz="1400" dirty="0" smtClean="0">
              <a:solidFill>
                <a:prstClr val="black"/>
              </a:solidFill>
            </a:endParaRPr>
          </a:p>
          <a:p>
            <a:r>
              <a:rPr lang="fr-FR" sz="1400" dirty="0" err="1" smtClean="0">
                <a:solidFill>
                  <a:prstClr val="black"/>
                </a:solidFill>
              </a:rPr>
              <a:t>Fsi</a:t>
            </a:r>
            <a:r>
              <a:rPr lang="fr-FR" sz="1400" dirty="0" smtClean="0">
                <a:solidFill>
                  <a:prstClr val="black"/>
                </a:solidFill>
              </a:rPr>
              <a:t>;</a:t>
            </a:r>
            <a:endParaRPr lang="fr-FR" sz="1400" dirty="0">
              <a:solidFill>
                <a:prstClr val="black"/>
              </a:solidFill>
            </a:endParaRPr>
          </a:p>
          <a:p>
            <a:r>
              <a:rPr lang="fr-FR" sz="1400" dirty="0" err="1" smtClean="0">
                <a:solidFill>
                  <a:prstClr val="black"/>
                </a:solidFill>
              </a:rPr>
              <a:t>Tmatade</a:t>
            </a:r>
            <a:r>
              <a:rPr lang="fr-FR" sz="1400" dirty="0" smtClean="0">
                <a:solidFill>
                  <a:prstClr val="black"/>
                </a:solidFill>
              </a:rPr>
              <a:t>:= rand() </a:t>
            </a:r>
            <a:r>
              <a:rPr lang="fr-FR" sz="1400" dirty="0" err="1" smtClean="0">
                <a:solidFill>
                  <a:prstClr val="black"/>
                </a:solidFill>
              </a:rPr>
              <a:t>mod</a:t>
            </a:r>
            <a:r>
              <a:rPr lang="fr-FR" sz="1400" dirty="0" smtClean="0">
                <a:solidFill>
                  <a:prstClr val="black"/>
                </a:solidFill>
              </a:rPr>
              <a:t> 2+1;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Cas </a:t>
            </a:r>
            <a:r>
              <a:rPr lang="fr-FR" sz="1400" dirty="0" err="1">
                <a:solidFill>
                  <a:prstClr val="black"/>
                </a:solidFill>
              </a:rPr>
              <a:t>T</a:t>
            </a:r>
            <a:r>
              <a:rPr lang="fr-FR" sz="1400" dirty="0" err="1" smtClean="0">
                <a:solidFill>
                  <a:prstClr val="black"/>
                </a:solidFill>
              </a:rPr>
              <a:t>malade</a:t>
            </a:r>
            <a:r>
              <a:rPr lang="fr-FR" sz="1400" dirty="0" smtClean="0">
                <a:solidFill>
                  <a:prstClr val="black"/>
                </a:solidFill>
              </a:rPr>
              <a:t> de 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1:Nmalade:=rand() </a:t>
            </a:r>
            <a:r>
              <a:rPr lang="fr-FR" sz="1400" dirty="0" err="1" smtClean="0">
                <a:solidFill>
                  <a:prstClr val="black"/>
                </a:solidFill>
              </a:rPr>
              <a:t>mod</a:t>
            </a:r>
            <a:r>
              <a:rPr lang="fr-FR" sz="1400" dirty="0" smtClean="0">
                <a:solidFill>
                  <a:prstClr val="black"/>
                </a:solidFill>
              </a:rPr>
              <a:t> M1+1; </a:t>
            </a:r>
            <a:r>
              <a:rPr lang="fr-FR" sz="1400" dirty="0" err="1" smtClean="0">
                <a:solidFill>
                  <a:prstClr val="black"/>
                </a:solidFill>
              </a:rPr>
              <a:t>Norgane</a:t>
            </a:r>
            <a:r>
              <a:rPr lang="fr-FR" sz="1400" dirty="0" smtClean="0">
                <a:solidFill>
                  <a:prstClr val="black"/>
                </a:solidFill>
              </a:rPr>
              <a:t>:=rand() </a:t>
            </a:r>
            <a:r>
              <a:rPr lang="fr-FR" sz="1400" dirty="0" err="1" smtClean="0">
                <a:solidFill>
                  <a:prstClr val="black"/>
                </a:solidFill>
              </a:rPr>
              <a:t>mod</a:t>
            </a:r>
            <a:r>
              <a:rPr lang="fr-FR" sz="1400" dirty="0" smtClean="0">
                <a:solidFill>
                  <a:prstClr val="black"/>
                </a:solidFill>
              </a:rPr>
              <a:t> N1+1;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  Si trouve(</a:t>
            </a:r>
            <a:r>
              <a:rPr lang="fr-FR" sz="1400" dirty="0" err="1" smtClean="0">
                <a:solidFill>
                  <a:prstClr val="black"/>
                </a:solidFill>
              </a:rPr>
              <a:t>Tcr</a:t>
            </a:r>
            <a:r>
              <a:rPr lang="fr-FR" sz="1400" dirty="0" smtClean="0">
                <a:solidFill>
                  <a:prstClr val="black"/>
                </a:solidFill>
              </a:rPr>
              <a:t>, </a:t>
            </a:r>
            <a:r>
              <a:rPr lang="fr-FR" sz="1400" dirty="0" err="1" smtClean="0">
                <a:solidFill>
                  <a:prstClr val="black"/>
                </a:solidFill>
              </a:rPr>
              <a:t>Nmalade</a:t>
            </a:r>
            <a:r>
              <a:rPr lang="fr-FR" sz="1400" dirty="0" smtClean="0">
                <a:solidFill>
                  <a:prstClr val="black"/>
                </a:solidFill>
              </a:rPr>
              <a:t>, </a:t>
            </a:r>
            <a:r>
              <a:rPr lang="fr-FR" sz="1400" dirty="0" err="1" smtClean="0">
                <a:solidFill>
                  <a:prstClr val="black"/>
                </a:solidFill>
              </a:rPr>
              <a:t>Norgane</a:t>
            </a:r>
            <a:r>
              <a:rPr lang="fr-FR" sz="1400" dirty="0" smtClean="0">
                <a:solidFill>
                  <a:prstClr val="black"/>
                </a:solidFill>
              </a:rPr>
              <a:t>) Alors // la fonction désactive la case correspondant à la commande trouvée</a:t>
            </a:r>
          </a:p>
          <a:p>
            <a:r>
              <a:rPr lang="fr-FR" sz="1400" dirty="0">
                <a:solidFill>
                  <a:prstClr val="black"/>
                </a:solidFill>
              </a:rPr>
              <a:t> </a:t>
            </a:r>
            <a:r>
              <a:rPr lang="fr-FR" sz="1400" dirty="0" smtClean="0">
                <a:solidFill>
                  <a:prstClr val="black"/>
                </a:solidFill>
              </a:rPr>
              <a:t>       P(</a:t>
            </a:r>
            <a:r>
              <a:rPr lang="fr-FR" sz="1400" dirty="0" err="1" smtClean="0">
                <a:solidFill>
                  <a:prstClr val="black"/>
                </a:solidFill>
              </a:rPr>
              <a:t>nvide</a:t>
            </a:r>
            <a:r>
              <a:rPr lang="fr-FR" sz="1400" dirty="0" smtClean="0">
                <a:solidFill>
                  <a:prstClr val="black"/>
                </a:solidFill>
              </a:rPr>
              <a:t>); </a:t>
            </a:r>
            <a:r>
              <a:rPr lang="fr-FR" sz="1400" dirty="0" err="1" smtClean="0">
                <a:solidFill>
                  <a:prstClr val="black"/>
                </a:solidFill>
              </a:rPr>
              <a:t>Deposer</a:t>
            </a:r>
            <a:r>
              <a:rPr lang="fr-FR" sz="1400" dirty="0" smtClean="0">
                <a:solidFill>
                  <a:prstClr val="black"/>
                </a:solidFill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</a:rPr>
              <a:t>Torgane</a:t>
            </a:r>
            <a:r>
              <a:rPr lang="fr-FR" sz="1400" dirty="0" smtClean="0">
                <a:solidFill>
                  <a:prstClr val="black"/>
                </a:solidFill>
              </a:rPr>
              <a:t>,  (</a:t>
            </a:r>
            <a:r>
              <a:rPr lang="fr-FR" sz="1400" dirty="0" err="1" smtClean="0">
                <a:solidFill>
                  <a:prstClr val="black"/>
                </a:solidFill>
              </a:rPr>
              <a:t>Tmalade</a:t>
            </a:r>
            <a:r>
              <a:rPr lang="fr-FR" sz="1400" dirty="0" smtClean="0">
                <a:solidFill>
                  <a:prstClr val="black"/>
                </a:solidFill>
              </a:rPr>
              <a:t>, </a:t>
            </a:r>
            <a:r>
              <a:rPr lang="fr-FR" sz="1400" dirty="0" err="1" smtClean="0">
                <a:solidFill>
                  <a:prstClr val="black"/>
                </a:solidFill>
              </a:rPr>
              <a:t>Nmalade</a:t>
            </a:r>
            <a:r>
              <a:rPr lang="fr-FR" sz="1400" dirty="0" smtClean="0">
                <a:solidFill>
                  <a:prstClr val="black"/>
                </a:solidFill>
              </a:rPr>
              <a:t>, </a:t>
            </a:r>
            <a:r>
              <a:rPr lang="fr-FR" sz="1400" dirty="0" err="1" smtClean="0">
                <a:solidFill>
                  <a:prstClr val="black"/>
                </a:solidFill>
              </a:rPr>
              <a:t>Norgane</a:t>
            </a:r>
            <a:r>
              <a:rPr lang="fr-FR" sz="1400" dirty="0" smtClean="0">
                <a:solidFill>
                  <a:prstClr val="black"/>
                </a:solidFill>
              </a:rPr>
              <a:t>)); P(</a:t>
            </a:r>
            <a:r>
              <a:rPr lang="fr-FR" sz="1400" dirty="0" err="1" smtClean="0">
                <a:solidFill>
                  <a:prstClr val="black"/>
                </a:solidFill>
              </a:rPr>
              <a:t>mutex</a:t>
            </a:r>
            <a:r>
              <a:rPr lang="fr-FR" sz="1400" dirty="0" smtClean="0">
                <a:solidFill>
                  <a:prstClr val="black"/>
                </a:solidFill>
              </a:rPr>
              <a:t>); cpt:=cpt+1; V(</a:t>
            </a:r>
            <a:r>
              <a:rPr lang="fr-FR" sz="1400" dirty="0" err="1" smtClean="0">
                <a:solidFill>
                  <a:prstClr val="black"/>
                </a:solidFill>
              </a:rPr>
              <a:t>mutex</a:t>
            </a:r>
            <a:r>
              <a:rPr lang="fr-FR" sz="1400" dirty="0" smtClean="0">
                <a:solidFill>
                  <a:prstClr val="black"/>
                </a:solidFill>
              </a:rPr>
              <a:t>);</a:t>
            </a:r>
            <a:r>
              <a:rPr lang="fr-FR" sz="1400" dirty="0">
                <a:solidFill>
                  <a:prstClr val="black"/>
                </a:solidFill>
              </a:rPr>
              <a:t>  </a:t>
            </a:r>
            <a:r>
              <a:rPr lang="fr-FR" sz="1400" dirty="0" smtClean="0">
                <a:solidFill>
                  <a:prstClr val="black"/>
                </a:solidFill>
              </a:rPr>
              <a:t>    </a:t>
            </a:r>
          </a:p>
          <a:p>
            <a:r>
              <a:rPr lang="fr-FR" sz="1400" dirty="0">
                <a:solidFill>
                  <a:prstClr val="black"/>
                </a:solidFill>
              </a:rPr>
              <a:t> </a:t>
            </a:r>
            <a:r>
              <a:rPr lang="fr-FR" sz="1400" dirty="0" smtClean="0">
                <a:solidFill>
                  <a:prstClr val="black"/>
                </a:solidFill>
              </a:rPr>
              <a:t>        </a:t>
            </a:r>
            <a:r>
              <a:rPr lang="fr-FR" sz="1400" dirty="0" err="1" smtClean="0">
                <a:solidFill>
                  <a:prstClr val="black"/>
                </a:solidFill>
              </a:rPr>
              <a:t>nb_rep</a:t>
            </a:r>
            <a:r>
              <a:rPr lang="fr-FR" sz="1400" dirty="0">
                <a:solidFill>
                  <a:prstClr val="black"/>
                </a:solidFill>
              </a:rPr>
              <a:t>:=nb_rep+1; </a:t>
            </a:r>
            <a:r>
              <a:rPr lang="fr-FR" sz="1400" dirty="0" err="1" smtClean="0">
                <a:solidFill>
                  <a:prstClr val="black"/>
                </a:solidFill>
              </a:rPr>
              <a:t>Tcr</a:t>
            </a:r>
            <a:r>
              <a:rPr lang="fr-FR" sz="1400" dirty="0" smtClean="0">
                <a:solidFill>
                  <a:prstClr val="black"/>
                </a:solidFill>
              </a:rPr>
              <a:t>[</a:t>
            </a:r>
            <a:r>
              <a:rPr lang="fr-FR" sz="1400" dirty="0" err="1" smtClean="0">
                <a:solidFill>
                  <a:prstClr val="black"/>
                </a:solidFill>
              </a:rPr>
              <a:t>Nmalade</a:t>
            </a:r>
            <a:r>
              <a:rPr lang="fr-FR" sz="1400" dirty="0" smtClean="0">
                <a:solidFill>
                  <a:prstClr val="black"/>
                </a:solidFill>
              </a:rPr>
              <a:t>].valide:=0;</a:t>
            </a:r>
            <a:endParaRPr lang="fr-FR" sz="1400" dirty="0">
              <a:solidFill>
                <a:prstClr val="black"/>
              </a:solidFill>
            </a:endParaRPr>
          </a:p>
          <a:p>
            <a:endParaRPr lang="fr-FR" sz="1400" dirty="0" smtClean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  </a:t>
            </a:r>
            <a:r>
              <a:rPr lang="fr-FR" sz="1400" dirty="0" err="1" smtClean="0">
                <a:solidFill>
                  <a:prstClr val="black"/>
                </a:solidFill>
              </a:rPr>
              <a:t>Fsi</a:t>
            </a:r>
            <a:r>
              <a:rPr lang="fr-FR" sz="1400" dirty="0" smtClean="0">
                <a:solidFill>
                  <a:prstClr val="black"/>
                </a:solidFill>
              </a:rPr>
              <a:t>;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2: </a:t>
            </a:r>
            <a:r>
              <a:rPr lang="fr-FR" sz="1400" dirty="0" err="1">
                <a:solidFill>
                  <a:prstClr val="black"/>
                </a:solidFill>
              </a:rPr>
              <a:t>Nmalade</a:t>
            </a:r>
            <a:r>
              <a:rPr lang="fr-FR" sz="1400" dirty="0">
                <a:solidFill>
                  <a:prstClr val="black"/>
                </a:solidFill>
              </a:rPr>
              <a:t>:=rand() </a:t>
            </a:r>
            <a:r>
              <a:rPr lang="fr-FR" sz="1400" dirty="0" err="1">
                <a:solidFill>
                  <a:prstClr val="black"/>
                </a:solidFill>
              </a:rPr>
              <a:t>mod</a:t>
            </a:r>
            <a:r>
              <a:rPr lang="fr-FR" sz="1400" dirty="0">
                <a:solidFill>
                  <a:prstClr val="black"/>
                </a:solidFill>
              </a:rPr>
              <a:t> </a:t>
            </a:r>
            <a:r>
              <a:rPr lang="fr-FR" sz="1400" dirty="0" smtClean="0">
                <a:solidFill>
                  <a:prstClr val="black"/>
                </a:solidFill>
              </a:rPr>
              <a:t>M2+1</a:t>
            </a:r>
            <a:r>
              <a:rPr lang="fr-FR" sz="1400" dirty="0">
                <a:solidFill>
                  <a:prstClr val="black"/>
                </a:solidFill>
              </a:rPr>
              <a:t>; </a:t>
            </a:r>
            <a:r>
              <a:rPr lang="fr-FR" sz="1400" dirty="0" err="1">
                <a:solidFill>
                  <a:prstClr val="black"/>
                </a:solidFill>
              </a:rPr>
              <a:t>Norgane</a:t>
            </a:r>
            <a:r>
              <a:rPr lang="fr-FR" sz="1400" dirty="0">
                <a:solidFill>
                  <a:prstClr val="black"/>
                </a:solidFill>
              </a:rPr>
              <a:t>:=rand() </a:t>
            </a:r>
            <a:r>
              <a:rPr lang="fr-FR" sz="1400" dirty="0" err="1">
                <a:solidFill>
                  <a:prstClr val="black"/>
                </a:solidFill>
              </a:rPr>
              <a:t>mod</a:t>
            </a:r>
            <a:r>
              <a:rPr lang="fr-FR" sz="1400" dirty="0">
                <a:solidFill>
                  <a:prstClr val="black"/>
                </a:solidFill>
              </a:rPr>
              <a:t> </a:t>
            </a:r>
            <a:r>
              <a:rPr lang="fr-FR" sz="1400" dirty="0" smtClean="0">
                <a:solidFill>
                  <a:prstClr val="black"/>
                </a:solidFill>
              </a:rPr>
              <a:t>N2+1</a:t>
            </a:r>
            <a:r>
              <a:rPr lang="fr-FR" sz="1400" dirty="0">
                <a:solidFill>
                  <a:prstClr val="black"/>
                </a:solidFill>
              </a:rPr>
              <a:t>;</a:t>
            </a:r>
          </a:p>
          <a:p>
            <a:r>
              <a:rPr lang="fr-FR" sz="1400" dirty="0">
                <a:solidFill>
                  <a:prstClr val="black"/>
                </a:solidFill>
              </a:rPr>
              <a:t>  Si </a:t>
            </a:r>
            <a:r>
              <a:rPr lang="fr-FR" sz="1400" dirty="0" smtClean="0">
                <a:solidFill>
                  <a:prstClr val="black"/>
                </a:solidFill>
              </a:rPr>
              <a:t>trouve(</a:t>
            </a:r>
            <a:r>
              <a:rPr lang="fr-FR" sz="1400" dirty="0" err="1" smtClean="0">
                <a:solidFill>
                  <a:prstClr val="black"/>
                </a:solidFill>
              </a:rPr>
              <a:t>Tncr</a:t>
            </a:r>
            <a:r>
              <a:rPr lang="fr-FR" sz="1400" dirty="0">
                <a:solidFill>
                  <a:prstClr val="black"/>
                </a:solidFill>
              </a:rPr>
              <a:t>, </a:t>
            </a:r>
            <a:r>
              <a:rPr lang="fr-FR" sz="1400" dirty="0" err="1">
                <a:solidFill>
                  <a:prstClr val="black"/>
                </a:solidFill>
              </a:rPr>
              <a:t>Nmalade</a:t>
            </a:r>
            <a:r>
              <a:rPr lang="fr-FR" sz="1400" dirty="0">
                <a:solidFill>
                  <a:prstClr val="black"/>
                </a:solidFill>
              </a:rPr>
              <a:t>, </a:t>
            </a:r>
            <a:r>
              <a:rPr lang="fr-FR" sz="1400" dirty="0" err="1">
                <a:solidFill>
                  <a:prstClr val="black"/>
                </a:solidFill>
              </a:rPr>
              <a:t>Norgane</a:t>
            </a:r>
            <a:r>
              <a:rPr lang="fr-FR" sz="1400" dirty="0">
                <a:solidFill>
                  <a:prstClr val="black"/>
                </a:solidFill>
              </a:rPr>
              <a:t>) Alors // la fonction désactive la case correspondant à la commande trouvée</a:t>
            </a:r>
          </a:p>
          <a:p>
            <a:pPr lvl="0"/>
            <a:r>
              <a:rPr lang="fr-FR" sz="1400" dirty="0">
                <a:solidFill>
                  <a:prstClr val="black"/>
                </a:solidFill>
              </a:rPr>
              <a:t>        </a:t>
            </a:r>
            <a:r>
              <a:rPr lang="fr-FR" sz="1400" dirty="0" smtClean="0">
                <a:solidFill>
                  <a:prstClr val="black"/>
                </a:solidFill>
              </a:rPr>
              <a:t>P(</a:t>
            </a:r>
            <a:r>
              <a:rPr lang="fr-FR" sz="1400" dirty="0" err="1" smtClean="0">
                <a:solidFill>
                  <a:prstClr val="black"/>
                </a:solidFill>
              </a:rPr>
              <a:t>nvide</a:t>
            </a:r>
            <a:r>
              <a:rPr lang="fr-FR" sz="1400" dirty="0" smtClean="0">
                <a:solidFill>
                  <a:prstClr val="black"/>
                </a:solidFill>
              </a:rPr>
              <a:t>); </a:t>
            </a:r>
            <a:r>
              <a:rPr lang="fr-FR" sz="1400" dirty="0" err="1" smtClean="0">
                <a:solidFill>
                  <a:prstClr val="black"/>
                </a:solidFill>
              </a:rPr>
              <a:t>Deposer</a:t>
            </a:r>
            <a:r>
              <a:rPr lang="fr-FR" sz="1400" dirty="0" smtClean="0">
                <a:solidFill>
                  <a:prstClr val="black"/>
                </a:solidFill>
              </a:rPr>
              <a:t>(</a:t>
            </a:r>
            <a:r>
              <a:rPr lang="fr-FR" sz="1400" dirty="0" err="1" smtClean="0">
                <a:solidFill>
                  <a:prstClr val="black"/>
                </a:solidFill>
              </a:rPr>
              <a:t>Torgane</a:t>
            </a:r>
            <a:r>
              <a:rPr lang="fr-FR" sz="1400" dirty="0">
                <a:solidFill>
                  <a:prstClr val="black"/>
                </a:solidFill>
              </a:rPr>
              <a:t>,  (</a:t>
            </a:r>
            <a:r>
              <a:rPr lang="fr-FR" sz="1400" dirty="0" err="1">
                <a:solidFill>
                  <a:prstClr val="black"/>
                </a:solidFill>
              </a:rPr>
              <a:t>Tmalade</a:t>
            </a:r>
            <a:r>
              <a:rPr lang="fr-FR" sz="1400" dirty="0">
                <a:solidFill>
                  <a:prstClr val="black"/>
                </a:solidFill>
              </a:rPr>
              <a:t>, </a:t>
            </a:r>
            <a:r>
              <a:rPr lang="fr-FR" sz="1400" dirty="0" err="1">
                <a:solidFill>
                  <a:prstClr val="black"/>
                </a:solidFill>
              </a:rPr>
              <a:t>Nmalade</a:t>
            </a:r>
            <a:r>
              <a:rPr lang="fr-FR" sz="1400" dirty="0">
                <a:solidFill>
                  <a:prstClr val="black"/>
                </a:solidFill>
              </a:rPr>
              <a:t>, </a:t>
            </a:r>
            <a:r>
              <a:rPr lang="fr-FR" sz="1400" dirty="0" err="1">
                <a:solidFill>
                  <a:prstClr val="black"/>
                </a:solidFill>
              </a:rPr>
              <a:t>Norgane</a:t>
            </a:r>
            <a:r>
              <a:rPr lang="fr-FR" sz="1400" dirty="0">
                <a:solidFill>
                  <a:prstClr val="black"/>
                </a:solidFill>
              </a:rPr>
              <a:t>)); P(</a:t>
            </a:r>
            <a:r>
              <a:rPr lang="fr-FR" sz="1400" dirty="0" err="1">
                <a:solidFill>
                  <a:prstClr val="black"/>
                </a:solidFill>
              </a:rPr>
              <a:t>mutex</a:t>
            </a:r>
            <a:r>
              <a:rPr lang="fr-FR" sz="1400" dirty="0">
                <a:solidFill>
                  <a:prstClr val="black"/>
                </a:solidFill>
              </a:rPr>
              <a:t>); cpt:=cpt+1; V(</a:t>
            </a:r>
            <a:r>
              <a:rPr lang="fr-FR" sz="1400" dirty="0" err="1">
                <a:solidFill>
                  <a:prstClr val="black"/>
                </a:solidFill>
              </a:rPr>
              <a:t>mutex</a:t>
            </a:r>
            <a:r>
              <a:rPr lang="fr-FR" sz="1400" dirty="0">
                <a:solidFill>
                  <a:prstClr val="black"/>
                </a:solidFill>
              </a:rPr>
              <a:t>);      </a:t>
            </a:r>
          </a:p>
          <a:p>
            <a:pPr lvl="0"/>
            <a:r>
              <a:rPr lang="fr-FR" sz="1400" dirty="0">
                <a:solidFill>
                  <a:prstClr val="black"/>
                </a:solidFill>
              </a:rPr>
              <a:t>         </a:t>
            </a:r>
            <a:r>
              <a:rPr lang="fr-FR" sz="1400" dirty="0" err="1">
                <a:solidFill>
                  <a:prstClr val="black"/>
                </a:solidFill>
              </a:rPr>
              <a:t>nb_rep</a:t>
            </a:r>
            <a:r>
              <a:rPr lang="fr-FR" sz="1400" dirty="0">
                <a:solidFill>
                  <a:prstClr val="black"/>
                </a:solidFill>
              </a:rPr>
              <a:t>:=nb_rep+1; </a:t>
            </a:r>
            <a:r>
              <a:rPr lang="fr-FR" sz="1400" dirty="0" err="1" smtClean="0">
                <a:solidFill>
                  <a:prstClr val="black"/>
                </a:solidFill>
              </a:rPr>
              <a:t>Tncr</a:t>
            </a:r>
            <a:r>
              <a:rPr lang="fr-FR" sz="1400" dirty="0" smtClean="0">
                <a:solidFill>
                  <a:prstClr val="black"/>
                </a:solidFill>
              </a:rPr>
              <a:t>[</a:t>
            </a:r>
            <a:r>
              <a:rPr lang="fr-FR" sz="1400" dirty="0" err="1" smtClean="0">
                <a:solidFill>
                  <a:prstClr val="black"/>
                </a:solidFill>
              </a:rPr>
              <a:t>Nmalade</a:t>
            </a:r>
            <a:r>
              <a:rPr lang="fr-FR" sz="1400" dirty="0">
                <a:solidFill>
                  <a:prstClr val="black"/>
                </a:solidFill>
              </a:rPr>
              <a:t>].valide:=0;</a:t>
            </a:r>
          </a:p>
          <a:p>
            <a:r>
              <a:rPr lang="fr-FR" sz="1400" dirty="0" smtClean="0">
                <a:solidFill>
                  <a:prstClr val="black"/>
                </a:solidFill>
              </a:rPr>
              <a:t>  </a:t>
            </a:r>
            <a:r>
              <a:rPr lang="fr-FR" sz="1400" dirty="0" err="1">
                <a:solidFill>
                  <a:prstClr val="black"/>
                </a:solidFill>
              </a:rPr>
              <a:t>Fsi</a:t>
            </a:r>
            <a:r>
              <a:rPr lang="fr-FR" sz="1400" dirty="0">
                <a:solidFill>
                  <a:prstClr val="black"/>
                </a:solidFill>
              </a:rPr>
              <a:t>;</a:t>
            </a:r>
          </a:p>
          <a:p>
            <a:r>
              <a:rPr lang="fr-FR" sz="1400" dirty="0" err="1" smtClean="0">
                <a:solidFill>
                  <a:prstClr val="black"/>
                </a:solidFill>
              </a:rPr>
              <a:t>Fcas</a:t>
            </a:r>
            <a:endParaRPr lang="fr-FR" sz="1400" dirty="0" smtClean="0">
              <a:solidFill>
                <a:prstClr val="black"/>
              </a:solidFill>
            </a:endParaRPr>
          </a:p>
          <a:p>
            <a:r>
              <a:rPr lang="fr-FR" sz="1400" dirty="0" smtClean="0">
                <a:solidFill>
                  <a:prstClr val="black"/>
                </a:solidFill>
              </a:rPr>
              <a:t>Jusqu’à (</a:t>
            </a:r>
            <a:r>
              <a:rPr lang="fr-FR" sz="1400" dirty="0" err="1" smtClean="0">
                <a:solidFill>
                  <a:prstClr val="black"/>
                </a:solidFill>
              </a:rPr>
              <a:t>nb_rep</a:t>
            </a:r>
            <a:r>
              <a:rPr lang="fr-FR" sz="1400" dirty="0" smtClean="0">
                <a:solidFill>
                  <a:prstClr val="black"/>
                </a:solidFill>
              </a:rPr>
              <a:t>=M1+M2</a:t>
            </a:r>
            <a:r>
              <a:rPr lang="fr-FR" sz="1400" dirty="0">
                <a:solidFill>
                  <a:prstClr val="black"/>
                </a:solidFill>
              </a:rPr>
              <a:t>);</a:t>
            </a:r>
          </a:p>
        </p:txBody>
      </p:sp>
      <p:sp>
        <p:nvSpPr>
          <p:cNvPr id="3" name="Rectangle 2"/>
          <p:cNvSpPr/>
          <p:nvPr/>
        </p:nvSpPr>
        <p:spPr>
          <a:xfrm>
            <a:off x="3131840" y="260648"/>
            <a:ext cx="27104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>
                <a:solidFill>
                  <a:prstClr val="black"/>
                </a:solidFill>
              </a:rPr>
              <a:t>Comportement des processus</a:t>
            </a:r>
          </a:p>
        </p:txBody>
      </p:sp>
    </p:spTree>
    <p:extLst>
      <p:ext uri="{BB962C8B-B14F-4D97-AF65-F5344CB8AC3E}">
        <p14:creationId xmlns:p14="http://schemas.microsoft.com/office/powerpoint/2010/main" val="242355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886</Words>
  <Application>Microsoft Office PowerPoint</Application>
  <PresentationFormat>Affichage à l'écran (4:3)</PresentationFormat>
  <Paragraphs>154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hp elitebook</dc:creator>
  <cp:lastModifiedBy>user</cp:lastModifiedBy>
  <cp:revision>183</cp:revision>
  <dcterms:created xsi:type="dcterms:W3CDTF">2023-11-12T05:23:52Z</dcterms:created>
  <dcterms:modified xsi:type="dcterms:W3CDTF">2025-11-30T17:00:16Z</dcterms:modified>
</cp:coreProperties>
</file>